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veat" panose="020B0604020202020204" charset="0"/>
      <p:bold r:id="rId39"/>
    </p:embeddedFont>
    <p:embeddedFont>
      <p:font typeface="Nunito" pitchFamily="2" charset="-52"/>
      <p:regular r:id="rId40"/>
      <p:bold r:id="rId41"/>
    </p:embeddedFont>
    <p:embeddedFont>
      <p:font typeface="Nunito ExtraBold" pitchFamily="2" charset="-52"/>
      <p:bold r:id="rId42"/>
    </p:embeddedFont>
    <p:embeddedFont>
      <p:font typeface="Segoe UI Symbol" panose="020B0502040204020203" pitchFamily="34" charset="0"/>
      <p:regular r:id="rId43"/>
    </p:embeddedFont>
    <p:embeddedFont>
      <p:font typeface="Unbounded" panose="020B0604020202020204" charset="-52"/>
      <p:bold r:id="rId4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 restart="4294967295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5" d="100"/>
          <a:sy n="115" d="100"/>
        </p:scale>
        <p:origin x="396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jpg"/><Relationship Id="rId5" Type="http://schemas.openxmlformats.org/officeDocument/2006/relationships/slide" Target="slide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7.xml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slide" Target="slide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slide" Target="slide5.xml"/><Relationship Id="rId5" Type="http://schemas.openxmlformats.org/officeDocument/2006/relationships/image" Target="../media/image8.png"/><Relationship Id="rId10" Type="http://schemas.openxmlformats.org/officeDocument/2006/relationships/slide" Target="slide4.xml"/><Relationship Id="rId4" Type="http://schemas.openxmlformats.org/officeDocument/2006/relationships/image" Target="../media/image7.png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9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1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1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2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24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27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30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openxmlformats.org/officeDocument/2006/relationships/slide" Target="slide33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slide" Target="slide3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1.png"/><Relationship Id="rId7" Type="http://schemas.openxmlformats.org/officeDocument/2006/relationships/slide" Target="slide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X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Речення" descr="TitleSent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Промінь" descr="Beam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327" y="0"/>
            <a:ext cx="1269968" cy="6858000"/>
          </a:xfrm>
          <a:prstGeom prst="rect">
            <a:avLst/>
          </a:prstGeom>
        </p:spPr>
      </p:pic>
      <p:sp>
        <p:nvSpPr>
          <p:cNvPr id="5" name="Клас"/>
          <p:cNvSpPr txBox="1"/>
          <p:nvPr/>
        </p:nvSpPr>
        <p:spPr>
          <a:xfrm>
            <a:off x="713232" y="5669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0" spc="300">
                <a:solidFill>
                  <a:srgbClr val="5CE1E6"/>
                </a:solidFill>
                <a:latin typeface="Nunito ExtraBold"/>
              </a:rPr>
              <a:t>УКРАЇНСЬКА МОВА · 8 КЛАС</a:t>
            </a:r>
          </a:p>
        </p:txBody>
      </p:sp>
      <p:sp>
        <p:nvSpPr>
          <p:cNvPr id="6" name="Заголовок"/>
          <p:cNvSpPr txBox="1"/>
          <p:nvPr/>
        </p:nvSpPr>
        <p:spPr>
          <a:xfrm>
            <a:off x="658368" y="960120"/>
            <a:ext cx="749807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Unbounded"/>
              </a:rPr>
              <a:t>Граматична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Unbounded"/>
              </a:rPr>
              <a:t>основа</a:t>
            </a:r>
          </a:p>
        </p:txBody>
      </p:sp>
      <p:sp>
        <p:nvSpPr>
          <p:cNvPr id="7" name="Підзаголовок"/>
          <p:cNvSpPr txBox="1"/>
          <p:nvPr/>
        </p:nvSpPr>
        <p:spPr>
          <a:xfrm>
            <a:off x="731520" y="301752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E45C"/>
                </a:solidFill>
                <a:latin typeface="Caveat"/>
              </a:rPr>
              <a:t>робимо реченню рентген</a:t>
            </a:r>
          </a:p>
        </p:txBody>
      </p:sp>
      <p:sp>
        <p:nvSpPr>
          <p:cNvPr id="8" name="Автор"/>
          <p:cNvSpPr txBox="1"/>
          <p:nvPr/>
        </p:nvSpPr>
        <p:spPr>
          <a:xfrm>
            <a:off x="713232" y="587044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500" b="0" dirty="0" err="1">
                <a:solidFill>
                  <a:srgbClr val="A9C7D6"/>
                </a:solidFill>
                <a:latin typeface="Nunito"/>
              </a:rPr>
              <a:t>Автор</a:t>
            </a:r>
            <a:r>
              <a:rPr sz="1500" b="0" dirty="0">
                <a:solidFill>
                  <a:srgbClr val="A9C7D6"/>
                </a:solidFill>
                <a:latin typeface="Nunito"/>
              </a:rPr>
              <a:t> </a:t>
            </a:r>
            <a:r>
              <a:rPr sz="1500" b="0" dirty="0" err="1">
                <a:solidFill>
                  <a:srgbClr val="A9C7D6"/>
                </a:solidFill>
                <a:latin typeface="Nunito"/>
              </a:rPr>
              <a:t>проєкту</a:t>
            </a:r>
            <a:r>
              <a:rPr sz="1500" b="0" dirty="0">
                <a:solidFill>
                  <a:srgbClr val="A9C7D6"/>
                </a:solidFill>
                <a:latin typeface="Nunito"/>
              </a:rPr>
              <a:t>: </a:t>
            </a:r>
            <a:r>
              <a:rPr lang="uk-UA" sz="1500" dirty="0">
                <a:solidFill>
                  <a:srgbClr val="A9C7D6"/>
                </a:solidFill>
                <a:latin typeface="Nunito"/>
              </a:rPr>
              <a:t>Тищенко Богдан</a:t>
            </a:r>
            <a:r>
              <a:rPr sz="1500" b="0" dirty="0">
                <a:solidFill>
                  <a:srgbClr val="A9C7D6"/>
                </a:solidFill>
                <a:latin typeface="Nunito"/>
              </a:rPr>
              <a:t> </a:t>
            </a:r>
            <a:r>
              <a:rPr lang="uk-UA" sz="1500" b="0" dirty="0">
                <a:solidFill>
                  <a:srgbClr val="A9C7D6"/>
                </a:solidFill>
                <a:latin typeface="Nunito"/>
              </a:rPr>
              <a:t>(8-В клас).</a:t>
            </a:r>
            <a:endParaRPr sz="1500" b="0" dirty="0">
              <a:solidFill>
                <a:srgbClr val="A9C7D6"/>
              </a:solidFill>
              <a:latin typeface="Nunito"/>
            </a:endParaRPr>
          </a:p>
        </p:txBody>
      </p:sp>
      <p:sp>
        <p:nvSpPr>
          <p:cNvPr id="9" name="Підказка F5"/>
          <p:cNvSpPr txBox="1"/>
          <p:nvPr/>
        </p:nvSpPr>
        <p:spPr>
          <a:xfrm>
            <a:off x="713232" y="6272784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FA3B5"/>
                </a:solidFill>
                <a:latin typeface="Nunito"/>
              </a:rPr>
              <a:t>Увімкніть показ слайдів (F5): відео запуститься само, а тест працює на кнопках. У режимі редагування кнопки натискають із Ctrl.</a:t>
            </a:r>
          </a:p>
        </p:txBody>
      </p:sp>
      <p:sp>
        <p:nvSpPr>
          <p:cNvPr id="10" name="Почати">
            <a:hlinkClick r:id="rId5" action="ppaction://hlinksldjump" highlightClick="1"/>
          </p:cNvPr>
          <p:cNvSpPr/>
          <p:nvPr/>
        </p:nvSpPr>
        <p:spPr>
          <a:xfrm>
            <a:off x="9646920" y="5870448"/>
            <a:ext cx="1874519" cy="603504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800" b="0">
                <a:solidFill>
                  <a:srgbClr val="06101F"/>
                </a:solidFill>
                <a:latin typeface="Nunito ExtraBold"/>
              </a:rPr>
              <a:t>Почати  </a:t>
            </a:r>
            <a:r>
              <a:rPr sz="1700" b="1">
                <a:solidFill>
                  <a:srgbClr val="06101F"/>
                </a:solidFill>
                <a:latin typeface="Unbounded"/>
              </a:rPr>
              <a:t>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decel="50000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3" presetID="22" presetClass="entr" presetSubtype="8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6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400"/>
                                </p:stCondLst>
                                <p:childTnLst>
                                  <p:par>
                                    <p:cTn id="17" presetID="22" presetClass="entr" presetSubtype="8" decel="50000" fill="hold" nodeType="after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17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" presetClass="path" presetSubtype="0" accel="5000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animMotion origin="layout" path="M -0.8938 0 L 0 0 E" pathEditMode="relative" ptsTypes="">
                                          <p:cBhvr>
                                            <p:cTn id="24" dur="1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26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4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4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3" presetClass="entr" presetSubtype="16" fill="hold" grpId="0" nodeType="withEffect" p14:presetBounceEnd="4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850"/>
                                </p:stCondLst>
                                <p:childTnLst>
                                  <p:par>
                                    <p:cTn id="37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55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9" grpId="0"/>
          <p:bldP spid="10" grpId="0" animBg="1"/>
          <p:bldP spid="1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decel="50000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8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3" presetID="22" presetClass="entr" presetSubtype="8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6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400"/>
                                </p:stCondLst>
                                <p:childTnLst>
                                  <p:par>
                                    <p:cTn id="17" presetID="22" presetClass="entr" presetSubtype="8" decel="50000" fill="hold" nodeType="after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17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5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" presetClass="path" presetSubtype="0" accel="5000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animMotion origin="layout" path="M -0.8938 0 L 0 0 E" pathEditMode="relative" ptsTypes="">
                                          <p:cBhvr>
                                            <p:cTn id="24" dur="1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26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4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4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3850"/>
                                </p:stCondLst>
                                <p:childTnLst>
                                  <p:par>
                                    <p:cTn id="37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55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6" grpId="0"/>
          <p:bldP spid="7" grpId="0"/>
          <p:bldP spid="8" grpId="0"/>
          <p:bldP spid="9" grpId="0"/>
          <p:bldP spid="10" grpId="0" animBg="1"/>
          <p:bldP spid="10" grpId="1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01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Відеопояснення · 3:36</a:t>
            </a:r>
          </a:p>
        </p:txBody>
      </p:sp>
      <p:sp>
        <p:nvSpPr>
          <p:cNvPr id="6" name="Рамка відео"/>
          <p:cNvSpPr/>
          <p:nvPr/>
        </p:nvSpPr>
        <p:spPr>
          <a:xfrm>
            <a:off x="1021384" y="932688"/>
            <a:ext cx="10149840" cy="5705856"/>
          </a:xfrm>
          <a:prstGeom prst="roundRect">
            <a:avLst>
              <a:gd name="adj" fmla="val 2884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Далі">
            <a:hlinkClick r:id="rId5" action="ppaction://hlinksldjump" highlightClick="1"/>
          </p:cNvPr>
          <p:cNvSpPr/>
          <p:nvPr/>
        </p:nvSpPr>
        <p:spPr>
          <a:xfrm>
            <a:off x="9098280" y="301752"/>
            <a:ext cx="260604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Ментальна карта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pic>
        <p:nvPicPr>
          <p:cNvPr id="7" name="Відео">
            <a:hlinkClick r:id="" action="ppaction://media"/>
            <a:extLst>
              <a:ext uri="{FF2B5EF4-FFF2-40B4-BE49-F238E27FC236}">
                <a16:creationId xmlns:a16="http://schemas.microsoft.com/office/drawing/2014/main" id="{3718C9C9-13BA-3565-9279-7746BCA32F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2826" y="1024129"/>
            <a:ext cx="9966553" cy="5606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56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02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Ментальна карта</a:t>
            </a:r>
          </a:p>
        </p:txBody>
      </p:sp>
      <p:sp>
        <p:nvSpPr>
          <p:cNvPr id="5" name="Інструкція"/>
          <p:cNvSpPr txBox="1"/>
          <p:nvPr/>
        </p:nvSpPr>
        <p:spPr>
          <a:xfrm>
            <a:off x="3154680" y="301752"/>
            <a:ext cx="420624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5B6180"/>
                </a:solidFill>
                <a:latin typeface="Caveat"/>
              </a:rPr>
              <a:t>натисни на гілку, щоб розгорнути</a:t>
            </a:r>
          </a:p>
        </p:txBody>
      </p:sp>
      <p:pic>
        <p:nvPicPr>
          <p:cNvPr id="7" name="MapCenter" descr="Map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11480"/>
            <a:ext cx="11457432" cy="6446520"/>
          </a:xfrm>
          <a:prstGeom prst="rect">
            <a:avLst/>
          </a:prstGeom>
        </p:spPr>
      </p:pic>
      <p:pic>
        <p:nvPicPr>
          <p:cNvPr id="8" name="MapSubject" descr="MapSub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1480"/>
            <a:ext cx="11457432" cy="6446520"/>
          </a:xfrm>
          <a:prstGeom prst="rect">
            <a:avLst/>
          </a:prstGeom>
        </p:spPr>
      </p:pic>
      <p:pic>
        <p:nvPicPr>
          <p:cNvPr id="9" name="MapPredicate" descr="MapPredic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"/>
            <a:ext cx="11457432" cy="6446520"/>
          </a:xfrm>
          <a:prstGeom prst="rect">
            <a:avLst/>
          </a:prstGeom>
        </p:spPr>
      </p:pic>
      <p:pic>
        <p:nvPicPr>
          <p:cNvPr id="10" name="MapDash" descr="MapD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11480"/>
            <a:ext cx="11457432" cy="6446520"/>
          </a:xfrm>
          <a:prstGeom prst="rect">
            <a:avLst/>
          </a:prstGeom>
        </p:spPr>
      </p:pic>
      <p:pic>
        <p:nvPicPr>
          <p:cNvPr id="11" name="MapHow" descr="MapH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11480"/>
            <a:ext cx="11457432" cy="6446520"/>
          </a:xfrm>
          <a:prstGeom prst="rect">
            <a:avLst/>
          </a:prstGeom>
        </p:spPr>
      </p:pic>
      <p:sp>
        <p:nvSpPr>
          <p:cNvPr id="6" name="Назад">
            <a:hlinkClick r:id="rId8" action="ppaction://hlinksldjump" highlightClick="1"/>
          </p:cNvPr>
          <p:cNvSpPr/>
          <p:nvPr/>
        </p:nvSpPr>
        <p:spPr>
          <a:xfrm>
            <a:off x="7452360" y="301752"/>
            <a:ext cx="16002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Відео</a:t>
            </a:r>
          </a:p>
        </p:txBody>
      </p:sp>
      <p:sp>
        <p:nvSpPr>
          <p:cNvPr id="12" name="Далі">
            <a:hlinkClick r:id="rId9" action="ppaction://hlinksldjump" highlightClick="1"/>
          </p:cNvPr>
          <p:cNvSpPr/>
          <p:nvPr/>
        </p:nvSpPr>
        <p:spPr>
          <a:xfrm>
            <a:off x="9189720" y="301752"/>
            <a:ext cx="251460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До тесту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sp>
        <p:nvSpPr>
          <p:cNvPr id="13" name="Гілка 1">
            <a:hlinkClick r:id="rId10" action="ppaction://hlinksldjump" highlightClick="1"/>
          </p:cNvPr>
          <p:cNvSpPr/>
          <p:nvPr/>
        </p:nvSpPr>
        <p:spPr>
          <a:xfrm>
            <a:off x="723804" y="1115822"/>
            <a:ext cx="4177188" cy="2805430"/>
          </a:xfrm>
          <a:prstGeom prst="roundRect">
            <a:avLst>
              <a:gd name="adj" fmla="val 6518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люс 1">
            <a:hlinkClick r:id="rId10" action="ppaction://hlinksldjump" highlightClick="1"/>
          </p:cNvPr>
          <p:cNvSpPr/>
          <p:nvPr/>
        </p:nvSpPr>
        <p:spPr>
          <a:xfrm>
            <a:off x="4590097" y="969518"/>
            <a:ext cx="420624" cy="420624"/>
          </a:xfrm>
          <a:prstGeom prst="ellipse">
            <a:avLst/>
          </a:prstGeom>
          <a:solidFill>
            <a:srgbClr val="2D6B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+</a:t>
            </a:r>
          </a:p>
        </p:txBody>
      </p:sp>
      <p:sp>
        <p:nvSpPr>
          <p:cNvPr id="15" name="Гілка 2">
            <a:hlinkClick r:id="rId11" action="ppaction://hlinksldjump" highlightClick="1"/>
          </p:cNvPr>
          <p:cNvSpPr/>
          <p:nvPr/>
        </p:nvSpPr>
        <p:spPr>
          <a:xfrm>
            <a:off x="7287958" y="1115822"/>
            <a:ext cx="4177188" cy="2865120"/>
          </a:xfrm>
          <a:prstGeom prst="roundRect">
            <a:avLst>
              <a:gd name="adj" fmla="val 6382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Плюс 2">
            <a:hlinkClick r:id="rId11" action="ppaction://hlinksldjump" highlightClick="1"/>
          </p:cNvPr>
          <p:cNvSpPr/>
          <p:nvPr/>
        </p:nvSpPr>
        <p:spPr>
          <a:xfrm>
            <a:off x="11154251" y="969518"/>
            <a:ext cx="420624" cy="420624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+</a:t>
            </a:r>
          </a:p>
        </p:txBody>
      </p:sp>
      <p:sp>
        <p:nvSpPr>
          <p:cNvPr id="17" name="Гілка 3">
            <a:hlinkClick r:id="rId12" action="ppaction://hlinksldjump" highlightClick="1"/>
          </p:cNvPr>
          <p:cNvSpPr/>
          <p:nvPr/>
        </p:nvSpPr>
        <p:spPr>
          <a:xfrm>
            <a:off x="723804" y="4064507"/>
            <a:ext cx="4177188" cy="2626360"/>
          </a:xfrm>
          <a:prstGeom prst="roundRect">
            <a:avLst>
              <a:gd name="adj" fmla="val 6963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Плюс 3">
            <a:hlinkClick r:id="rId12" action="ppaction://hlinksldjump" highlightClick="1"/>
          </p:cNvPr>
          <p:cNvSpPr/>
          <p:nvPr/>
        </p:nvSpPr>
        <p:spPr>
          <a:xfrm>
            <a:off x="4590097" y="3918203"/>
            <a:ext cx="420624" cy="420624"/>
          </a:xfrm>
          <a:prstGeom prst="ellipse">
            <a:avLst/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+</a:t>
            </a:r>
          </a:p>
        </p:txBody>
      </p:sp>
      <p:sp>
        <p:nvSpPr>
          <p:cNvPr id="19" name="Гілка 4">
            <a:hlinkClick r:id="rId13" action="ppaction://hlinksldjump" highlightClick="1"/>
          </p:cNvPr>
          <p:cNvSpPr/>
          <p:nvPr/>
        </p:nvSpPr>
        <p:spPr>
          <a:xfrm>
            <a:off x="7287958" y="4148073"/>
            <a:ext cx="4177188" cy="2506980"/>
          </a:xfrm>
          <a:prstGeom prst="roundRect">
            <a:avLst>
              <a:gd name="adj" fmla="val 7294"/>
            </a:avLst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Плюс 4">
            <a:hlinkClick r:id="rId13" action="ppaction://hlinksldjump" highlightClick="1"/>
          </p:cNvPr>
          <p:cNvSpPr/>
          <p:nvPr/>
        </p:nvSpPr>
        <p:spPr>
          <a:xfrm>
            <a:off x="11154251" y="4001769"/>
            <a:ext cx="420624" cy="420624"/>
          </a:xfrm>
          <a:prstGeom prst="ellipse">
            <a:avLst/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nbounded"/>
              </a:rPr>
              <a:t>+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decel="50000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3" presetClass="entr" presetSubtype="16" fill="hold" nodeType="withEffect" p14:presetBounceEnd="4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5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5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13" presetID="2" presetClass="entr" presetSubtype="8" decel="50000" fill="hold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decel="50000" fill="hold" nodeType="withEffect">
                                      <p:stCondLst>
                                        <p:cond delay="14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0000" fill="hold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decel="50000" fill="hold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670"/>
                                </p:stCondLst>
                                <p:childTnLst>
                                  <p:par>
                                    <p:cTn id="30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3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3" presetClass="entr" presetSubtype="16" fill="hold" grpId="0" nodeType="withEffect" p14:presetBounceEnd="45000">
                                      <p:stCondLst>
                                        <p:cond delay="8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3" presetClass="entr" presetSubtype="16" fill="hold" grpId="0" nodeType="withEffect" p14:presetBounceEnd="45000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3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3" presetClass="entr" presetSubtype="16" fill="hold" grpId="0" nodeType="withEffect" p14:presetBounceEnd="45000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2260"/>
                                </p:stCondLst>
                                <p:childTnLst>
                                  <p:par>
                                    <p:cTn id="47" presetID="6" presetClass="emph" presetSubtype="0" repeatCount="40000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55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0" dur="550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1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2" dur="550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14" grpId="1" animBg="1"/>
          <p:bldP spid="16" grpId="0" animBg="1"/>
          <p:bldP spid="16" grpId="1" animBg="1"/>
          <p:bldP spid="18" grpId="0" animBg="1"/>
          <p:bldP spid="18" grpId="1" animBg="1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decel="50000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3" presetClass="entr" presetSubtype="16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5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5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700"/>
                                </p:stCondLst>
                                <p:childTnLst>
                                  <p:par>
                                    <p:cTn id="13" presetID="2" presetClass="entr" presetSubtype="8" decel="50000" fill="hold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decel="50000" fill="hold" nodeType="withEffect">
                                      <p:stCondLst>
                                        <p:cond delay="14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0000" fill="hold" nodeType="withEffect">
                                      <p:stCondLst>
                                        <p:cond delay="28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decel="50000" fill="hold" nodeType="withEffect">
                                      <p:stCondLst>
                                        <p:cond delay="42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670"/>
                                </p:stCondLst>
                                <p:childTnLst>
                                  <p:par>
                                    <p:cTn id="30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3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3" presetClass="entr" presetSubtype="16" fill="hold" grpId="0" nodeType="withEffect">
                                      <p:stCondLst>
                                        <p:cond delay="8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3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3" presetClass="entr" presetSubtype="16" fill="hold" grpId="0" nodeType="withEffect">
                                      <p:stCondLst>
                                        <p:cond delay="16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3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3" presetClass="entr" presetSubtype="16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2260"/>
                                </p:stCondLst>
                                <p:childTnLst>
                                  <p:par>
                                    <p:cTn id="47" presetID="6" presetClass="emph" presetSubtype="0" repeatCount="400000" autoRev="1" fill="hold" grpId="1" nodeType="after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55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0" dur="550" fill="hold"/>
                                            <p:tgtEl>
                                              <p:spTgt spid="16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1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2" dur="550" fill="hold"/>
                                            <p:tgtEl>
                                              <p:spTgt spid="18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repeatCount="40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18000" y="118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14" grpId="1" animBg="1"/>
          <p:bldP spid="16" grpId="0" animBg="1"/>
          <p:bldP spid="16" grpId="1" animBg="1"/>
          <p:bldP spid="18" grpId="0" animBg="1"/>
          <p:bldP spid="18" grpId="1" animBg="1"/>
          <p:bldP spid="20" grpId="0" animBg="1"/>
          <p:bldP spid="20" grpId="1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02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Ментальна карта</a:t>
            </a:r>
          </a:p>
        </p:txBody>
      </p:sp>
      <p:sp>
        <p:nvSpPr>
          <p:cNvPr id="7" name="Заголовок"/>
          <p:cNvSpPr txBox="1"/>
          <p:nvPr/>
        </p:nvSpPr>
        <p:spPr>
          <a:xfrm>
            <a:off x="685800" y="8961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B1F3B"/>
                </a:solidFill>
                <a:latin typeface="Unbounded"/>
              </a:rPr>
              <a:t>Підмет</a:t>
            </a:r>
          </a:p>
        </p:txBody>
      </p:sp>
      <p:pic>
        <p:nvPicPr>
          <p:cNvPr id="8" name="Зміст" descr="DetailSub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"/>
            <a:ext cx="12191695" cy="6858000"/>
          </a:xfrm>
          <a:prstGeom prst="rect">
            <a:avLst/>
          </a:prstGeom>
        </p:spPr>
      </p:pic>
      <p:sp>
        <p:nvSpPr>
          <p:cNvPr id="5" name="Далі">
            <a:hlinkClick r:id="rId4" action="ppaction://hlinksldjump" highlightClick="1"/>
          </p:cNvPr>
          <p:cNvSpPr/>
          <p:nvPr/>
        </p:nvSpPr>
        <p:spPr>
          <a:xfrm>
            <a:off x="9692640" y="301752"/>
            <a:ext cx="201168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Присудок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sp>
        <p:nvSpPr>
          <p:cNvPr id="6" name="Назад">
            <a:hlinkClick r:id="rId5" action="ppaction://hlinksldjump" highlightClick="1"/>
          </p:cNvPr>
          <p:cNvSpPr/>
          <p:nvPr/>
        </p:nvSpPr>
        <p:spPr>
          <a:xfrm>
            <a:off x="7909560" y="301752"/>
            <a:ext cx="16002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Карта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5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02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Ментальна карта</a:t>
            </a:r>
          </a:p>
        </p:txBody>
      </p:sp>
      <p:sp>
        <p:nvSpPr>
          <p:cNvPr id="7" name="Заголовок"/>
          <p:cNvSpPr txBox="1"/>
          <p:nvPr/>
        </p:nvSpPr>
        <p:spPr>
          <a:xfrm>
            <a:off x="685800" y="8961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B1F3B"/>
                </a:solidFill>
                <a:latin typeface="Unbounded"/>
              </a:rPr>
              <a:t>Присудок</a:t>
            </a:r>
          </a:p>
        </p:txBody>
      </p:sp>
      <p:pic>
        <p:nvPicPr>
          <p:cNvPr id="8" name="Зміст" descr="DetailPred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"/>
            <a:ext cx="12191695" cy="6858000"/>
          </a:xfrm>
          <a:prstGeom prst="rect">
            <a:avLst/>
          </a:prstGeom>
        </p:spPr>
      </p:pic>
      <p:sp>
        <p:nvSpPr>
          <p:cNvPr id="5" name="Далі">
            <a:hlinkClick r:id="rId4" action="ppaction://hlinksldjump" highlightClick="1"/>
          </p:cNvPr>
          <p:cNvSpPr/>
          <p:nvPr/>
        </p:nvSpPr>
        <p:spPr>
          <a:xfrm>
            <a:off x="10241280" y="301752"/>
            <a:ext cx="146304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Тире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sp>
        <p:nvSpPr>
          <p:cNvPr id="6" name="Назад">
            <a:hlinkClick r:id="rId5" action="ppaction://hlinksldjump" highlightClick="1"/>
          </p:cNvPr>
          <p:cNvSpPr/>
          <p:nvPr/>
        </p:nvSpPr>
        <p:spPr>
          <a:xfrm>
            <a:off x="8458200" y="301752"/>
            <a:ext cx="16002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Карта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5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02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Ментальна карта</a:t>
            </a:r>
          </a:p>
        </p:txBody>
      </p:sp>
      <p:sp>
        <p:nvSpPr>
          <p:cNvPr id="7" name="Заголовок"/>
          <p:cNvSpPr txBox="1"/>
          <p:nvPr/>
        </p:nvSpPr>
        <p:spPr>
          <a:xfrm>
            <a:off x="685800" y="8961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B1F3B"/>
                </a:solidFill>
                <a:latin typeface="Unbounded"/>
              </a:rPr>
              <a:t>Тире між підметом і присудком</a:t>
            </a:r>
          </a:p>
        </p:txBody>
      </p:sp>
      <p:pic>
        <p:nvPicPr>
          <p:cNvPr id="8" name="Зміст" descr="Detail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"/>
            <a:ext cx="12191695" cy="6858000"/>
          </a:xfrm>
          <a:prstGeom prst="rect">
            <a:avLst/>
          </a:prstGeom>
        </p:spPr>
      </p:pic>
      <p:sp>
        <p:nvSpPr>
          <p:cNvPr id="5" name="Далі">
            <a:hlinkClick r:id="rId4" action="ppaction://hlinksldjump" highlightClick="1"/>
          </p:cNvPr>
          <p:cNvSpPr/>
          <p:nvPr/>
        </p:nvSpPr>
        <p:spPr>
          <a:xfrm>
            <a:off x="9555480" y="301752"/>
            <a:ext cx="2148839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Як знайти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sp>
        <p:nvSpPr>
          <p:cNvPr id="6" name="Назад">
            <a:hlinkClick r:id="rId5" action="ppaction://hlinksldjump" highlightClick="1"/>
          </p:cNvPr>
          <p:cNvSpPr/>
          <p:nvPr/>
        </p:nvSpPr>
        <p:spPr>
          <a:xfrm>
            <a:off x="7772400" y="301752"/>
            <a:ext cx="16002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Карта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5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02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Ментальна карта</a:t>
            </a:r>
          </a:p>
        </p:txBody>
      </p:sp>
      <p:sp>
        <p:nvSpPr>
          <p:cNvPr id="7" name="Заголовок"/>
          <p:cNvSpPr txBox="1"/>
          <p:nvPr/>
        </p:nvSpPr>
        <p:spPr>
          <a:xfrm>
            <a:off x="685800" y="89611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B1F3B"/>
                </a:solidFill>
                <a:latin typeface="Unbounded"/>
              </a:rPr>
              <a:t>Як знайти граматичну основу</a:t>
            </a:r>
          </a:p>
        </p:txBody>
      </p:sp>
      <p:pic>
        <p:nvPicPr>
          <p:cNvPr id="8" name="Зміст" descr="DetailH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"/>
            <a:ext cx="12191695" cy="6858000"/>
          </a:xfrm>
          <a:prstGeom prst="rect">
            <a:avLst/>
          </a:prstGeom>
        </p:spPr>
      </p:pic>
      <p:sp>
        <p:nvSpPr>
          <p:cNvPr id="5" name="Далі">
            <a:hlinkClick r:id="rId4" action="ppaction://hlinksldjump" highlightClick="1"/>
          </p:cNvPr>
          <p:cNvSpPr/>
          <p:nvPr/>
        </p:nvSpPr>
        <p:spPr>
          <a:xfrm>
            <a:off x="9692640" y="301752"/>
            <a:ext cx="2011680" cy="512064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До тесту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  <p:sp>
        <p:nvSpPr>
          <p:cNvPr id="6" name="Назад">
            <a:hlinkClick r:id="rId5" action="ppaction://hlinksldjump" highlightClick="1"/>
          </p:cNvPr>
          <p:cNvSpPr/>
          <p:nvPr/>
        </p:nvSpPr>
        <p:spPr>
          <a:xfrm>
            <a:off x="7909560" y="301752"/>
            <a:ext cx="16002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Карта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5000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6" name="Заголовок"/>
          <p:cNvSpPr txBox="1"/>
          <p:nvPr/>
        </p:nvSpPr>
        <p:spPr>
          <a:xfrm>
            <a:off x="685800" y="11887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B1F3B"/>
                </a:solidFill>
                <a:latin typeface="Unbounded"/>
              </a:rPr>
              <a:t>Перевір себе</a:t>
            </a:r>
          </a:p>
        </p:txBody>
      </p:sp>
      <p:pic>
        <p:nvPicPr>
          <p:cNvPr id="7" name="Лупа" descr="doodle-magnif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960120"/>
            <a:ext cx="1965960" cy="1965960"/>
          </a:xfrm>
          <a:prstGeom prst="rect">
            <a:avLst/>
          </a:prstGeom>
        </p:spPr>
      </p:pic>
      <p:sp>
        <p:nvSpPr>
          <p:cNvPr id="8" name="Опис"/>
          <p:cNvSpPr txBox="1"/>
          <p:nvPr/>
        </p:nvSpPr>
        <p:spPr>
          <a:xfrm>
            <a:off x="713232" y="224028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5B6180"/>
                </a:solidFill>
                <a:latin typeface="Nunito"/>
              </a:rPr>
              <a:t>8 запитань про граматичну основу. Натискай на відповідь, яку вважаєш правильною.</a:t>
            </a:r>
          </a:p>
        </p:txBody>
      </p:sp>
      <p:grpSp>
        <p:nvGrpSpPr>
          <p:cNvPr id="9" name="Правило 1"/>
          <p:cNvGrpSpPr/>
          <p:nvPr/>
        </p:nvGrpSpPr>
        <p:grpSpPr>
          <a:xfrm>
            <a:off x="685800" y="3383280"/>
            <a:ext cx="3456432" cy="1874519"/>
            <a:chOff x="685800" y="3383280"/>
            <a:chExt cx="3456432" cy="1874519"/>
          </a:xfrm>
        </p:grpSpPr>
        <p:sp>
          <p:nvSpPr>
            <p:cNvPr id="10" name="Картка"/>
            <p:cNvSpPr/>
            <p:nvPr/>
          </p:nvSpPr>
          <p:spPr>
            <a:xfrm>
              <a:off x="685800" y="3383280"/>
              <a:ext cx="3456432" cy="1874519"/>
            </a:xfrm>
            <a:prstGeom prst="roundRect">
              <a:avLst>
                <a:gd name="adj" fmla="val 7804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1" name="Oval 10"/>
            <p:cNvSpPr/>
            <p:nvPr/>
          </p:nvSpPr>
          <p:spPr>
            <a:xfrm>
              <a:off x="960120" y="3639312"/>
              <a:ext cx="566928" cy="566928"/>
            </a:xfrm>
            <a:prstGeom prst="ellipse">
              <a:avLst/>
            </a:prstGeom>
            <a:solidFill>
              <a:srgbClr val="11A1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2200" b="1">
                  <a:solidFill>
                    <a:srgbClr val="FFFFFF"/>
                  </a:solidFill>
                  <a:latin typeface="Segoe UI Symbol"/>
                </a:rPr>
                <a:t>✓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73352" y="3639312"/>
              <a:ext cx="2286000" cy="56692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2000" b="0">
                  <a:solidFill>
                    <a:srgbClr val="11A15A"/>
                  </a:solidFill>
                  <a:latin typeface="Nunito ExtraBold"/>
                </a:rPr>
                <a:t>Правильно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60120" y="4343400"/>
              <a:ext cx="2926080" cy="8229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>
                  <a:solidFill>
                    <a:srgbClr val="5B6180"/>
                  </a:solidFill>
                  <a:latin typeface="Nunito"/>
                </a:rPr>
                <a:t>Побачиш пояснення і підемо до наступного питання.</a:t>
              </a:r>
            </a:p>
          </p:txBody>
        </p:sp>
      </p:grpSp>
      <p:grpSp>
        <p:nvGrpSpPr>
          <p:cNvPr id="14" name="Правило 2"/>
          <p:cNvGrpSpPr/>
          <p:nvPr/>
        </p:nvGrpSpPr>
        <p:grpSpPr>
          <a:xfrm>
            <a:off x="4370832" y="3383280"/>
            <a:ext cx="3456432" cy="1874519"/>
            <a:chOff x="4370832" y="3383280"/>
            <a:chExt cx="3456432" cy="1874519"/>
          </a:xfrm>
        </p:grpSpPr>
        <p:sp>
          <p:nvSpPr>
            <p:cNvPr id="15" name="Картка"/>
            <p:cNvSpPr/>
            <p:nvPr/>
          </p:nvSpPr>
          <p:spPr>
            <a:xfrm>
              <a:off x="4370832" y="3383280"/>
              <a:ext cx="3456432" cy="1874519"/>
            </a:xfrm>
            <a:prstGeom prst="roundRect">
              <a:avLst>
                <a:gd name="adj" fmla="val 7804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Oval 15"/>
            <p:cNvSpPr/>
            <p:nvPr/>
          </p:nvSpPr>
          <p:spPr>
            <a:xfrm>
              <a:off x="4645152" y="3639312"/>
              <a:ext cx="566928" cy="566928"/>
            </a:xfrm>
            <a:prstGeom prst="ellipse">
              <a:avLst/>
            </a:prstGeom>
            <a:solidFill>
              <a:srgbClr val="E5484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2200" b="1">
                  <a:solidFill>
                    <a:srgbClr val="FFFFFF"/>
                  </a:solidFill>
                  <a:latin typeface="Segoe UI Symbol"/>
                </a:rPr>
                <a:t>✕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58384" y="3639312"/>
              <a:ext cx="2286000" cy="56692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2000" b="0">
                  <a:solidFill>
                    <a:srgbClr val="E5484D"/>
                  </a:solidFill>
                  <a:latin typeface="Nunito ExtraBold"/>
                </a:rPr>
                <a:t>Помилка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45152" y="4343400"/>
              <a:ext cx="2926080" cy="8229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>
                  <a:solidFill>
                    <a:srgbClr val="5B6180"/>
                  </a:solidFill>
                  <a:latin typeface="Nunito"/>
                </a:rPr>
                <a:t>Отримаєш підказку і спробуєш ще раз.</a:t>
              </a:r>
            </a:p>
          </p:txBody>
        </p:sp>
      </p:grpSp>
      <p:grpSp>
        <p:nvGrpSpPr>
          <p:cNvPr id="19" name="Правило 3"/>
          <p:cNvGrpSpPr/>
          <p:nvPr/>
        </p:nvGrpSpPr>
        <p:grpSpPr>
          <a:xfrm>
            <a:off x="8055864" y="3383280"/>
            <a:ext cx="3456432" cy="1874519"/>
            <a:chOff x="8055864" y="3383280"/>
            <a:chExt cx="3456432" cy="1874519"/>
          </a:xfrm>
        </p:grpSpPr>
        <p:sp>
          <p:nvSpPr>
            <p:cNvPr id="20" name="Картка"/>
            <p:cNvSpPr/>
            <p:nvPr/>
          </p:nvSpPr>
          <p:spPr>
            <a:xfrm>
              <a:off x="8055864" y="3383280"/>
              <a:ext cx="3456432" cy="1874519"/>
            </a:xfrm>
            <a:prstGeom prst="roundRect">
              <a:avLst>
                <a:gd name="adj" fmla="val 7804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30184" y="3639312"/>
              <a:ext cx="3017520" cy="566928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>
                <a:spcAft>
                  <a:spcPts val="0"/>
                </a:spcAft>
              </a:pPr>
              <a:r>
                <a:rPr sz="2000" b="0" u="sng">
                  <a:solidFill>
                    <a:srgbClr val="2D6BFF"/>
                  </a:solidFill>
                  <a:uFill>
                    <a:solidFill>
                      <a:srgbClr val="2D6BFF"/>
                    </a:solidFill>
                  </a:uFill>
                  <a:latin typeface="Nunito ExtraBold"/>
                </a:rPr>
                <a:t>підмет</a:t>
              </a:r>
              <a:r>
                <a:rPr sz="2000" b="0">
                  <a:solidFill>
                    <a:srgbClr val="1B1F3B"/>
                  </a:solidFill>
                  <a:latin typeface="Nunito ExtraBold"/>
                </a:rPr>
                <a:t>  </a:t>
              </a:r>
              <a:r>
                <a:rPr sz="2000" b="0" u="dbl">
                  <a:solidFill>
                    <a:srgbClr val="FF5A1F"/>
                  </a:solidFill>
                  <a:uFill>
                    <a:solidFill>
                      <a:srgbClr val="FF5A1F"/>
                    </a:solidFill>
                  </a:uFill>
                  <a:latin typeface="Nunito ExtraBold"/>
                </a:rPr>
                <a:t>присудок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30184" y="4343400"/>
              <a:ext cx="2926080" cy="82296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500" b="0">
                  <a:solidFill>
                    <a:srgbClr val="5B6180"/>
                  </a:solidFill>
                  <a:latin typeface="Nunito"/>
                </a:rPr>
                <a:t>Одна лінія — підмет, дві лінії — присудок. Спершу шукай підмет.</a:t>
              </a:r>
            </a:p>
          </p:txBody>
        </p:sp>
      </p:grpSp>
      <p:sp>
        <p:nvSpPr>
          <p:cNvPr id="5" name="Назад">
            <a:hlinkClick r:id="rId4" action="ppaction://hlinksldjump" highlightClick="1"/>
          </p:cNvPr>
          <p:cNvSpPr/>
          <p:nvPr/>
        </p:nvSpPr>
        <p:spPr>
          <a:xfrm>
            <a:off x="9418320" y="301752"/>
            <a:ext cx="22860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B1F3B"/>
            </a:solidFill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600" b="1">
                <a:solidFill>
                  <a:srgbClr val="1B1F3B"/>
                </a:solidFill>
                <a:latin typeface="Unbounded"/>
              </a:rPr>
              <a:t>← </a:t>
            </a:r>
            <a:r>
              <a:rPr sz="1700" b="0">
                <a:solidFill>
                  <a:srgbClr val="1B1F3B"/>
                </a:solidFill>
                <a:latin typeface="Nunito ExtraBold"/>
              </a:rPr>
              <a:t>Карта</a:t>
            </a:r>
          </a:p>
        </p:txBody>
      </p:sp>
      <p:sp>
        <p:nvSpPr>
          <p:cNvPr id="23" name="Почати тест">
            <a:hlinkClick r:id="rId5" action="ppaction://hlinksldjump" highlightClick="1"/>
          </p:cNvPr>
          <p:cNvSpPr/>
          <p:nvPr/>
        </p:nvSpPr>
        <p:spPr>
          <a:xfrm>
            <a:off x="685800" y="5715000"/>
            <a:ext cx="3017520" cy="676656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900" b="0">
                <a:solidFill>
                  <a:srgbClr val="FFFFFF"/>
                </a:solidFill>
                <a:latin typeface="Nunito ExtraBold"/>
              </a:rPr>
              <a:t>Почати тест  </a:t>
            </a:r>
            <a:r>
              <a:rPr sz="18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0000" fill="hold" grpId="0" nodeType="after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1" presetClass="entr" presetSubtype="0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8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4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400"/>
                                </p:stCondLst>
                                <p:childTnLst>
                                  <p:par>
                                    <p:cTn id="20" presetID="37" presetClass="entr" presetSubtype="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495" decel="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37" presetClass="entr" presetSubtype="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495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37" presetClass="entr" presetSubtype="0" decel="50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5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495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39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4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4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2700"/>
                                </p:stCondLst>
                                <p:childTnLst>
                                  <p:par>
                                    <p:cTn id="44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45" dur="55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8" grpId="0"/>
          <p:bldP spid="23" grpId="0" animBg="1"/>
          <p:bldP spid="23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0000" fill="hold" grpId="0" nodeType="after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6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31" presetClass="entr" presetSubtype="0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8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8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4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400"/>
                                </p:stCondLst>
                                <p:childTnLst>
                                  <p:par>
                                    <p:cTn id="20" presetID="37" presetClass="entr" presetSubtype="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55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5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495" decel="100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37" presetClass="entr" presetSubtype="0" decel="50000" fill="hold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495" decel="10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37" presetClass="entr" presetSubtype="0" decel="50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5" dur="5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495" decel="100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5" accel="100000" fill="hold">
                                              <p:stCondLst>
                                                <p:cond delay="495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39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4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4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2700"/>
                                </p:stCondLst>
                                <p:childTnLst>
                                  <p:par>
                                    <p:cTn id="44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45" dur="55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/>
          <p:bldP spid="8" grpId="0"/>
          <p:bldP spid="23" grpId="0" animBg="1"/>
          <p:bldP spid="23" grpId="1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1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Яка граматична основа цього речення?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Учора ввечері мій друг подарував мені нову гру.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друг подарував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4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друг гру</a:t>
              </a:r>
            </a:p>
          </p:txBody>
        </p:sp>
        <p:sp>
          <p:nvSpPr>
            <p:cNvPr id="21" name="Літера Б">
              <a:hlinkClick r:id="rId4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4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подарував мені</a:t>
              </a:r>
            </a:p>
          </p:txBody>
        </p:sp>
        <p:sp>
          <p:nvSpPr>
            <p:cNvPr id="24" name="Літера В">
              <a:hlinkClick r:id="rId4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1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Про кого йдеться? Про друга, це підмет. Що зробив друг? Подарував, це присудок. Слова «мені» і «гру» другорядні.</a:t>
            </a:r>
          </a:p>
        </p:txBody>
      </p:sp>
      <p:sp>
        <p:nvSpPr>
          <p:cNvPr id="19" name="Конфеті 1"/>
          <p:cNvSpPr/>
          <p:nvPr/>
        </p:nvSpPr>
        <p:spPr>
          <a:xfrm rot="2033209">
            <a:off x="8607795" y="1008688"/>
            <a:ext cx="114868" cy="63177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5198321">
            <a:off x="196594" y="1403989"/>
            <a:ext cx="140915" cy="77503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13621520">
            <a:off x="1948349" y="887924"/>
            <a:ext cx="137722" cy="13772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006186">
            <a:off x="9457844" y="1359117"/>
            <a:ext cx="140936" cy="14093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6663207">
            <a:off x="336184" y="1536124"/>
            <a:ext cx="168644" cy="168644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8043787">
            <a:off x="1683613" y="957472"/>
            <a:ext cx="164385" cy="90411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14696639">
            <a:off x="9398457" y="1582744"/>
            <a:ext cx="137390" cy="137390"/>
          </a:xfrm>
          <a:prstGeom prst="ellips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6474967">
            <a:off x="353178" y="2008612"/>
            <a:ext cx="125304" cy="125304"/>
          </a:xfrm>
          <a:prstGeom prst="star5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18902970">
            <a:off x="1675859" y="915353"/>
            <a:ext cx="162197" cy="89208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9031453">
            <a:off x="9606403" y="1033748"/>
            <a:ext cx="155666" cy="155666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1676602">
            <a:off x="524232" y="1389241"/>
            <a:ext cx="158452" cy="87148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12525736">
            <a:off x="1770323" y="923114"/>
            <a:ext cx="138429" cy="138429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1403999">
            <a:off x="11172023" y="1436987"/>
            <a:ext cx="128182" cy="128182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6147263">
            <a:off x="419573" y="2094597"/>
            <a:ext cx="155838" cy="155838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13195862">
            <a:off x="1654172" y="940449"/>
            <a:ext cx="121100" cy="121100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8594590">
            <a:off x="10349168" y="1090215"/>
            <a:ext cx="131953" cy="72574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6001325">
            <a:off x="212353" y="1423174"/>
            <a:ext cx="174513" cy="174513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21307689">
            <a:off x="1961930" y="911959"/>
            <a:ext cx="96068" cy="96068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1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Граматична основа складається з підмета (хто? що?) і присудка (що робить? що зробив?). Спершу знайди, про кого йдеться в реченні.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2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Яке слово є підметом у прислів’ї?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Семеро одного не чекають.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одного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4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семеро</a:t>
              </a:r>
            </a:p>
          </p:txBody>
        </p:sp>
        <p:sp>
          <p:nvSpPr>
            <p:cNvPr id="21" name="Літера Б">
              <a:hlinkClick r:id="rId4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3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не чекають</a:t>
              </a:r>
            </a:p>
          </p:txBody>
        </p:sp>
        <p:sp>
          <p:nvSpPr>
            <p:cNvPr id="24" name="Літера В">
              <a:hlinkClick r:id="rId3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2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Хто не чекає? Семеро. Підметом тут є числівник, а «не чекають» — присудок.</a:t>
            </a:r>
          </a:p>
        </p:txBody>
      </p:sp>
      <p:sp>
        <p:nvSpPr>
          <p:cNvPr id="19" name="Конфеті 1"/>
          <p:cNvSpPr/>
          <p:nvPr/>
        </p:nvSpPr>
        <p:spPr>
          <a:xfrm rot="1568719">
            <a:off x="8030889" y="1217389"/>
            <a:ext cx="93041" cy="51172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5691955">
            <a:off x="433145" y="1358349"/>
            <a:ext cx="127532" cy="127532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13643941">
            <a:off x="1776874" y="909159"/>
            <a:ext cx="169885" cy="169885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2848208">
            <a:off x="7535786" y="1615624"/>
            <a:ext cx="97353" cy="97353"/>
          </a:xfrm>
          <a:prstGeom prst="star5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12598963">
            <a:off x="257649" y="2075961"/>
            <a:ext cx="85090" cy="85090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12501657">
            <a:off x="1965080" y="975454"/>
            <a:ext cx="176272" cy="176272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11097679">
            <a:off x="7611566" y="1055345"/>
            <a:ext cx="146409" cy="146409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10810371">
            <a:off x="411157" y="1467061"/>
            <a:ext cx="101793" cy="101793"/>
          </a:xfrm>
          <a:prstGeom prst="triangl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15991371">
            <a:off x="1747832" y="887066"/>
            <a:ext cx="92598" cy="92598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11552770">
            <a:off x="8749401" y="1939580"/>
            <a:ext cx="93749" cy="93749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5537775">
            <a:off x="351065" y="1384297"/>
            <a:ext cx="128078" cy="128078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12292387">
            <a:off x="1962468" y="1014648"/>
            <a:ext cx="121933" cy="121933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8762833">
            <a:off x="9431469" y="979337"/>
            <a:ext cx="131487" cy="131487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5692434">
            <a:off x="309978" y="1571572"/>
            <a:ext cx="181596" cy="181596"/>
          </a:xfrm>
          <a:prstGeom prst="ellips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2059778">
            <a:off x="1661572" y="955712"/>
            <a:ext cx="112701" cy="61985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10944029">
            <a:off x="8223646" y="1948765"/>
            <a:ext cx="92136" cy="50674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16738965">
            <a:off x="544907" y="1009155"/>
            <a:ext cx="134757" cy="134757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4489605">
            <a:off x="1965221" y="909803"/>
            <a:ext cx="82475" cy="82475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2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Постав питання «хто?» до присудка «не чекають». Пам’ятай: підметом буває не лише іменник.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3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У якому реченні підмет виражений неозначеною формою дієслова?</a:t>
            </a:r>
          </a:p>
        </p:txBody>
      </p:sp>
      <p:grpSp>
        <p:nvGrpSpPr>
          <p:cNvPr id="15" name="Варіант А"/>
          <p:cNvGrpSpPr/>
          <p:nvPr/>
        </p:nvGrpSpPr>
        <p:grpSpPr>
          <a:xfrm>
            <a:off x="685800" y="2377440"/>
            <a:ext cx="10817352" cy="1005840"/>
            <a:chOff x="685800" y="2377440"/>
            <a:chExt cx="10817352" cy="1005840"/>
          </a:xfrm>
        </p:grpSpPr>
        <p:sp>
          <p:nvSpPr>
            <p:cNvPr id="16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237744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Ми почали плавати в басейні.</a:t>
              </a:r>
            </a:p>
          </p:txBody>
        </p:sp>
        <p:sp>
          <p:nvSpPr>
            <p:cNvPr id="17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260604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8" name="Варіант Б"/>
          <p:cNvGrpSpPr/>
          <p:nvPr/>
        </p:nvGrpSpPr>
        <p:grpSpPr>
          <a:xfrm>
            <a:off x="685800" y="3657600"/>
            <a:ext cx="10817352" cy="1005840"/>
            <a:chOff x="685800" y="3657600"/>
            <a:chExt cx="10817352" cy="1005840"/>
          </a:xfrm>
        </p:grpSpPr>
        <p:sp>
          <p:nvSpPr>
            <p:cNvPr id="19" name="Відповідь Б">
              <a:hlinkClick r:id="rId3" action="ppaction://hlinksldjump" highlightClick="1"/>
            </p:cNvPr>
            <p:cNvSpPr/>
            <p:nvPr/>
          </p:nvSpPr>
          <p:spPr>
            <a:xfrm>
              <a:off x="685800" y="365760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Плавання зміцнює здоров’я.</a:t>
              </a:r>
            </a:p>
          </p:txBody>
        </p:sp>
        <p:sp>
          <p:nvSpPr>
            <p:cNvPr id="20" name="Літера Б">
              <a:hlinkClick r:id="rId3" action="ppaction://hlinksldjump" highlightClick="1"/>
            </p:cNvPr>
            <p:cNvSpPr/>
            <p:nvPr/>
          </p:nvSpPr>
          <p:spPr>
            <a:xfrm>
              <a:off x="914400" y="388620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1" name="Варіант В"/>
          <p:cNvGrpSpPr/>
          <p:nvPr/>
        </p:nvGrpSpPr>
        <p:grpSpPr>
          <a:xfrm>
            <a:off x="685800" y="4937760"/>
            <a:ext cx="10817352" cy="1005840"/>
            <a:chOff x="685800" y="4937760"/>
            <a:chExt cx="10817352" cy="1005840"/>
          </a:xfrm>
        </p:grpSpPr>
        <p:sp>
          <p:nvSpPr>
            <p:cNvPr id="22" name="Відповідь В">
              <a:hlinkClick r:id="rId4" action="ppaction://hlinksldjump" highlightClick="1"/>
            </p:cNvPr>
            <p:cNvSpPr/>
            <p:nvPr/>
          </p:nvSpPr>
          <p:spPr>
            <a:xfrm>
              <a:off x="685800" y="493776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Плавати — моє улюблене заняття.</a:t>
              </a:r>
            </a:p>
          </p:txBody>
        </p:sp>
        <p:sp>
          <p:nvSpPr>
            <p:cNvPr id="23" name="Літера В">
              <a:hlinkClick r:id="rId4" action="ppaction://hlinksldjump" highlightClick="1"/>
            </p:cNvPr>
            <p:cNvSpPr/>
            <p:nvPr/>
          </p:nvSpPr>
          <p:spPr>
            <a:xfrm>
              <a:off x="914400" y="516636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50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1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3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Що є моїм улюбленим заняттям? Плавати. Неозначена форма тут сама є підметом, тому між нею та іменником ставимо тире.</a:t>
            </a:r>
          </a:p>
        </p:txBody>
      </p:sp>
      <p:sp>
        <p:nvSpPr>
          <p:cNvPr id="19" name="Конфеті 1"/>
          <p:cNvSpPr/>
          <p:nvPr/>
        </p:nvSpPr>
        <p:spPr>
          <a:xfrm rot="21377979">
            <a:off x="9727844" y="1442018"/>
            <a:ext cx="98887" cy="98887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305021">
            <a:off x="367619" y="1160077"/>
            <a:ext cx="130037" cy="71520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19904292">
            <a:off x="1671254" y="992067"/>
            <a:ext cx="176118" cy="176118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3303226">
            <a:off x="11418626" y="1703121"/>
            <a:ext cx="152093" cy="152093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20562425">
            <a:off x="380445" y="1725276"/>
            <a:ext cx="85722" cy="85722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9787556">
            <a:off x="1916956" y="882431"/>
            <a:ext cx="119355" cy="65645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802214">
            <a:off x="8638200" y="1112099"/>
            <a:ext cx="137818" cy="137818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20925410">
            <a:off x="210174" y="1112330"/>
            <a:ext cx="169390" cy="93164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4343316">
            <a:off x="1690717" y="942723"/>
            <a:ext cx="172214" cy="172214"/>
          </a:xfrm>
          <a:prstGeom prst="ellips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8332798">
            <a:off x="8128225" y="1920202"/>
            <a:ext cx="175151" cy="175151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15510799">
            <a:off x="280064" y="1898351"/>
            <a:ext cx="182361" cy="182361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16160602">
            <a:off x="1646955" y="879579"/>
            <a:ext cx="182158" cy="182158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14465007">
            <a:off x="9361703" y="1586378"/>
            <a:ext cx="104628" cy="104628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5308533">
            <a:off x="309657" y="1605932"/>
            <a:ext cx="145311" cy="145311"/>
          </a:xfrm>
          <a:prstGeom prst="star5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792663">
            <a:off x="1930122" y="926953"/>
            <a:ext cx="99263" cy="54595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12755206">
            <a:off x="8664648" y="1955006"/>
            <a:ext cx="134565" cy="74011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3505519">
            <a:off x="368003" y="1691972"/>
            <a:ext cx="171128" cy="171128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1126950">
            <a:off x="1928987" y="943788"/>
            <a:ext cx="89270" cy="89270"/>
          </a:xfrm>
          <a:prstGeom prst="triangl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3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«Плавання» — це іменник, а в реченні «Ми почали плавати» неозначена форма входить до присудка. Шукай, де вона відповідає на питання «що?».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4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Який присудок у цьому реченні?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Я буду читати цю книгу все літо.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дієслівний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4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простий дієслівний</a:t>
              </a:r>
            </a:p>
          </p:txBody>
        </p:sp>
        <p:sp>
          <p:nvSpPr>
            <p:cNvPr id="21" name="Літера Б">
              <a:hlinkClick r:id="rId4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3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іменний</a:t>
              </a:r>
            </a:p>
          </p:txBody>
        </p:sp>
        <p:sp>
          <p:nvSpPr>
            <p:cNvPr id="24" name="Літера В">
              <a:hlinkClick r:id="rId3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4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«Буду читати» — це складена форма майбутнього часу одного дієслова «читати». Тому присудок простий дієслівний.</a:t>
            </a:r>
          </a:p>
        </p:txBody>
      </p:sp>
      <p:sp>
        <p:nvSpPr>
          <p:cNvPr id="19" name="Конфеті 1"/>
          <p:cNvSpPr/>
          <p:nvPr/>
        </p:nvSpPr>
        <p:spPr>
          <a:xfrm rot="2861929">
            <a:off x="9311191" y="1676370"/>
            <a:ext cx="93657" cy="51511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18192901">
            <a:off x="260026" y="1046829"/>
            <a:ext cx="128976" cy="128976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2051680">
            <a:off x="1719521" y="931947"/>
            <a:ext cx="95482" cy="52515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9526401">
            <a:off x="10014774" y="1790250"/>
            <a:ext cx="181345" cy="181345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2838791">
            <a:off x="406866" y="2001354"/>
            <a:ext cx="133237" cy="133237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11526125">
            <a:off x="1877460" y="909114"/>
            <a:ext cx="83627" cy="83627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7951128">
            <a:off x="9452205" y="1851422"/>
            <a:ext cx="174128" cy="174128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18069849">
            <a:off x="319545" y="1334719"/>
            <a:ext cx="85577" cy="85577"/>
          </a:xfrm>
          <a:prstGeom prst="triangl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4098696">
            <a:off x="1730141" y="916663"/>
            <a:ext cx="121143" cy="66628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19728193">
            <a:off x="11171699" y="1183526"/>
            <a:ext cx="151552" cy="151552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15703559">
            <a:off x="221757" y="1874765"/>
            <a:ext cx="114720" cy="114720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5262072">
            <a:off x="1853840" y="893437"/>
            <a:ext cx="134695" cy="134695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326394">
            <a:off x="8947198" y="1197556"/>
            <a:ext cx="169351" cy="169351"/>
          </a:xfrm>
          <a:prstGeom prst="star5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11271256">
            <a:off x="343761" y="1892654"/>
            <a:ext cx="123244" cy="123244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8721896">
            <a:off x="1779598" y="924613"/>
            <a:ext cx="174999" cy="174999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13109460">
            <a:off x="7318437" y="1608923"/>
            <a:ext cx="138285" cy="76056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19178304">
            <a:off x="460862" y="1108462"/>
            <a:ext cx="127266" cy="69996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21139384">
            <a:off x="1992084" y="943661"/>
            <a:ext cx="127664" cy="127664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4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Пастка! Порівняй: «буду читати» = «читатиму». Це одне дієслово чи два?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5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Який присудок у цьому реченні?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Улітку ми хочемо поїхати в Карпати.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простий дієслівний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3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іменний</a:t>
              </a:r>
            </a:p>
          </p:txBody>
        </p:sp>
        <p:sp>
          <p:nvSpPr>
            <p:cNvPr id="21" name="Літера Б">
              <a:hlinkClick r:id="rId3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4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дієслівний</a:t>
              </a:r>
            </a:p>
          </p:txBody>
        </p:sp>
        <p:sp>
          <p:nvSpPr>
            <p:cNvPr id="24" name="Літера В">
              <a:hlinkClick r:id="rId4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5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«Хочемо» — допоміжне дієслово (бажання), «поїхати» — неозначена форма (сама дія). Разом це складений дієслівний присудок.</a:t>
            </a:r>
          </a:p>
        </p:txBody>
      </p:sp>
      <p:sp>
        <p:nvSpPr>
          <p:cNvPr id="19" name="Конфеті 1"/>
          <p:cNvSpPr/>
          <p:nvPr/>
        </p:nvSpPr>
        <p:spPr>
          <a:xfrm rot="9325270">
            <a:off x="10251580" y="1830216"/>
            <a:ext cx="137485" cy="75617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14102590">
            <a:off x="456245" y="1800556"/>
            <a:ext cx="107658" cy="107658"/>
          </a:xfrm>
          <a:prstGeom prst="ellips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2087985">
            <a:off x="1779162" y="1017169"/>
            <a:ext cx="163307" cy="163307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5068474">
            <a:off x="8356464" y="1459190"/>
            <a:ext cx="132112" cy="132112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18275453">
            <a:off x="307522" y="1566336"/>
            <a:ext cx="114984" cy="63241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11790600">
            <a:off x="1856797" y="973483"/>
            <a:ext cx="90650" cy="49857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5716328">
            <a:off x="8272695" y="1582589"/>
            <a:ext cx="165024" cy="165024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14487084">
            <a:off x="367001" y="1802716"/>
            <a:ext cx="142118" cy="142118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9551094">
            <a:off x="1672770" y="931818"/>
            <a:ext cx="137449" cy="137449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16975109">
            <a:off x="11011097" y="1686797"/>
            <a:ext cx="150772" cy="150772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20501182">
            <a:off x="533497" y="966725"/>
            <a:ext cx="164114" cy="164114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234243">
            <a:off x="1901692" y="944138"/>
            <a:ext cx="99952" cy="54974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9546536">
            <a:off x="10642629" y="1494652"/>
            <a:ext cx="129160" cy="71038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13365416">
            <a:off x="437876" y="1888085"/>
            <a:ext cx="122094" cy="122094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19441398">
            <a:off x="1771438" y="943867"/>
            <a:ext cx="136588" cy="75123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9929303">
            <a:off x="9562287" y="1806883"/>
            <a:ext cx="92169" cy="92169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9924547">
            <a:off x="184218" y="1959922"/>
            <a:ext cx="151427" cy="151427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2280474">
            <a:off x="1891948" y="952221"/>
            <a:ext cx="105838" cy="105838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5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Присудок тут складається з двох слів, і друге з них — неозначена форма дієслова. Яке слово допомагає?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6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Який присудок у цьому реченні?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Вечір став прохолодним.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іменний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4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простий дієслівний</a:t>
              </a:r>
            </a:p>
          </p:txBody>
        </p:sp>
        <p:sp>
          <p:nvSpPr>
            <p:cNvPr id="21" name="Літера Б">
              <a:hlinkClick r:id="rId4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4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складений дієслівний</a:t>
              </a:r>
            </a:p>
          </p:txBody>
        </p:sp>
        <p:sp>
          <p:nvSpPr>
            <p:cNvPr id="24" name="Літера В">
              <a:hlinkClick r:id="rId4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6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«Став» — дієслово-зв’язка, «прохолодним» — іменна частина (прикметник). Це складений іменний присудок.</a:t>
            </a:r>
          </a:p>
        </p:txBody>
      </p:sp>
      <p:sp>
        <p:nvSpPr>
          <p:cNvPr id="19" name="Конфеті 1"/>
          <p:cNvSpPr/>
          <p:nvPr/>
        </p:nvSpPr>
        <p:spPr>
          <a:xfrm rot="15907778">
            <a:off x="10224736" y="1206442"/>
            <a:ext cx="146612" cy="14661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4722580">
            <a:off x="398858" y="907913"/>
            <a:ext cx="150361" cy="150361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11770736">
            <a:off x="1851200" y="979983"/>
            <a:ext cx="133126" cy="133126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5079811">
            <a:off x="10541290" y="966656"/>
            <a:ext cx="104468" cy="104468"/>
          </a:xfrm>
          <a:prstGeom prst="star5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2003310">
            <a:off x="261633" y="1811167"/>
            <a:ext cx="116519" cy="64085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9923577">
            <a:off x="1866738" y="994146"/>
            <a:ext cx="92024" cy="92024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13360027">
            <a:off x="7134039" y="1255010"/>
            <a:ext cx="94851" cy="94851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16698276">
            <a:off x="440584" y="925247"/>
            <a:ext cx="168969" cy="92933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13730784">
            <a:off x="1962845" y="927769"/>
            <a:ext cx="181393" cy="99766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20231739">
            <a:off x="8423343" y="1634208"/>
            <a:ext cx="118992" cy="118992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8196238">
            <a:off x="378247" y="1170884"/>
            <a:ext cx="147477" cy="81112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4947438">
            <a:off x="1896324" y="999699"/>
            <a:ext cx="181826" cy="100004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18929541">
            <a:off x="8637367" y="1026695"/>
            <a:ext cx="85524" cy="85524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3086026">
            <a:off x="327586" y="1997634"/>
            <a:ext cx="113947" cy="113947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8627051">
            <a:off x="1919147" y="935279"/>
            <a:ext cx="96340" cy="96340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18599823">
            <a:off x="9142705" y="1051560"/>
            <a:ext cx="104356" cy="57395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8310974">
            <a:off x="472590" y="1389811"/>
            <a:ext cx="97669" cy="53718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14694122">
            <a:off x="1839448" y="1019632"/>
            <a:ext cx="142232" cy="142232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6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Слово «став» тут не означає дії, воно лише зв’язує підмет з ознакою. Якою частиною мови є «прохолодним»?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7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У якому реченні між підметом і присудком треба поставити тире?</a:t>
            </a:r>
          </a:p>
        </p:txBody>
      </p:sp>
      <p:grpSp>
        <p:nvGrpSpPr>
          <p:cNvPr id="15" name="Варіант А"/>
          <p:cNvGrpSpPr/>
          <p:nvPr/>
        </p:nvGrpSpPr>
        <p:grpSpPr>
          <a:xfrm>
            <a:off x="685800" y="2377440"/>
            <a:ext cx="10817352" cy="1005840"/>
            <a:chOff x="685800" y="2377440"/>
            <a:chExt cx="10817352" cy="1005840"/>
          </a:xfrm>
        </p:grpSpPr>
        <p:sp>
          <p:nvSpPr>
            <p:cNvPr id="16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237744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Він … мій найкращий друг.</a:t>
              </a:r>
            </a:p>
          </p:txBody>
        </p:sp>
        <p:sp>
          <p:nvSpPr>
            <p:cNvPr id="17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260604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8" name="Варіант Б"/>
          <p:cNvGrpSpPr/>
          <p:nvPr/>
        </p:nvGrpSpPr>
        <p:grpSpPr>
          <a:xfrm>
            <a:off x="685800" y="3657600"/>
            <a:ext cx="10817352" cy="1005840"/>
            <a:chOff x="685800" y="3657600"/>
            <a:chExt cx="10817352" cy="1005840"/>
          </a:xfrm>
        </p:grpSpPr>
        <p:sp>
          <p:nvSpPr>
            <p:cNvPr id="19" name="Відповідь Б">
              <a:hlinkClick r:id="rId3" action="ppaction://hlinksldjump" highlightClick="1"/>
            </p:cNvPr>
            <p:cNvSpPr/>
            <p:nvPr/>
          </p:nvSpPr>
          <p:spPr>
            <a:xfrm>
              <a:off x="685800" y="365760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Озеро … мов дзеркало.</a:t>
              </a:r>
            </a:p>
          </p:txBody>
        </p:sp>
        <p:sp>
          <p:nvSpPr>
            <p:cNvPr id="20" name="Літера Б">
              <a:hlinkClick r:id="rId3" action="ppaction://hlinksldjump" highlightClick="1"/>
            </p:cNvPr>
            <p:cNvSpPr/>
            <p:nvPr/>
          </p:nvSpPr>
          <p:spPr>
            <a:xfrm>
              <a:off x="914400" y="388620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1" name="Варіант В"/>
          <p:cNvGrpSpPr/>
          <p:nvPr/>
        </p:nvGrpSpPr>
        <p:grpSpPr>
          <a:xfrm>
            <a:off x="685800" y="4937760"/>
            <a:ext cx="10817352" cy="1005840"/>
            <a:chOff x="685800" y="4937760"/>
            <a:chExt cx="10817352" cy="1005840"/>
          </a:xfrm>
        </p:grpSpPr>
        <p:sp>
          <p:nvSpPr>
            <p:cNvPr id="22" name="Відповідь В">
              <a:hlinkClick r:id="rId4" action="ppaction://hlinksldjump" highlightClick="1"/>
            </p:cNvPr>
            <p:cNvSpPr/>
            <p:nvPr/>
          </p:nvSpPr>
          <p:spPr>
            <a:xfrm>
              <a:off x="685800" y="4937760"/>
              <a:ext cx="10817352" cy="1005840"/>
            </a:xfrm>
            <a:prstGeom prst="roundRect">
              <a:avLst>
                <a:gd name="adj" fmla="val 18181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Дніпро … найбільша річка України.</a:t>
              </a:r>
            </a:p>
          </p:txBody>
        </p:sp>
        <p:sp>
          <p:nvSpPr>
            <p:cNvPr id="23" name="Літера В">
              <a:hlinkClick r:id="rId4" action="ppaction://hlinksldjump" highlightClick="1"/>
            </p:cNvPr>
            <p:cNvSpPr/>
            <p:nvPr/>
          </p:nvSpPr>
          <p:spPr>
            <a:xfrm>
              <a:off x="914400" y="5166360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ecel="5000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"/>
                            </p:stCondLst>
                            <p:childTnLst>
                              <p:par>
                                <p:cTn id="11" presetID="2" presetClass="entr" presetSubtype="2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7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Підмет і присудок — іменники в називному відмінку (Дніпро — річка), тому ставимо тире.</a:t>
            </a:r>
          </a:p>
        </p:txBody>
      </p:sp>
      <p:sp>
        <p:nvSpPr>
          <p:cNvPr id="19" name="Конфеті 1"/>
          <p:cNvSpPr/>
          <p:nvPr/>
        </p:nvSpPr>
        <p:spPr>
          <a:xfrm rot="11043758">
            <a:off x="11119051" y="1285504"/>
            <a:ext cx="89023" cy="89023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15848890">
            <a:off x="460253" y="1209295"/>
            <a:ext cx="87292" cy="87292"/>
          </a:xfrm>
          <a:prstGeom prst="ellips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8017672">
            <a:off x="1958936" y="962346"/>
            <a:ext cx="145708" cy="80139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6685119">
            <a:off x="7212927" y="1693326"/>
            <a:ext cx="85360" cy="46948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14283173">
            <a:off x="534691" y="1627796"/>
            <a:ext cx="109290" cy="109290"/>
          </a:xfrm>
          <a:prstGeom prst="triangl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5508433">
            <a:off x="1883551" y="1010015"/>
            <a:ext cx="151487" cy="83318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5511839">
            <a:off x="7399029" y="1903114"/>
            <a:ext cx="142218" cy="142218"/>
          </a:xfrm>
          <a:prstGeom prst="star5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5819707">
            <a:off x="436358" y="1485757"/>
            <a:ext cx="126267" cy="126267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19994239">
            <a:off x="1844267" y="891800"/>
            <a:ext cx="174723" cy="174723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15001384">
            <a:off x="7059993" y="1657196"/>
            <a:ext cx="168168" cy="168168"/>
          </a:xfrm>
          <a:prstGeom prst="star5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6433058">
            <a:off x="491239" y="1455625"/>
            <a:ext cx="88151" cy="88151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15440904">
            <a:off x="1806761" y="1018935"/>
            <a:ext cx="130737" cy="130737"/>
          </a:xfrm>
          <a:prstGeom prst="star5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1541757">
            <a:off x="9802194" y="1915501"/>
            <a:ext cx="131989" cy="131989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14443466">
            <a:off x="331763" y="1516501"/>
            <a:ext cx="175590" cy="96575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12824665">
            <a:off x="1870510" y="981175"/>
            <a:ext cx="119712" cy="11971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20759811">
            <a:off x="7145424" y="1743952"/>
            <a:ext cx="158458" cy="158458"/>
          </a:xfrm>
          <a:prstGeom prst="triangl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10002202">
            <a:off x="349591" y="1019455"/>
            <a:ext cx="150324" cy="82678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5522402">
            <a:off x="1916542" y="927263"/>
            <a:ext cx="168197" cy="92508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549640" y="5760720"/>
            <a:ext cx="29535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Наступне питання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7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D5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Тире не ставимо, якщо підмет — особовий займенник або перед присудком є «мов», «як», «наче», «ніби».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8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Питання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B1F3B"/>
                </a:solidFill>
                <a:latin typeface="Nunito ExtraBold"/>
              </a:rPr>
              <a:t>Яка граматична основа цього речення?</a:t>
            </a:r>
          </a:p>
        </p:txBody>
      </p:sp>
      <p:sp>
        <p:nvSpPr>
          <p:cNvPr id="15" name="Речення"/>
          <p:cNvSpPr/>
          <p:nvPr/>
        </p:nvSpPr>
        <p:spPr>
          <a:xfrm>
            <a:off x="685800" y="1938528"/>
            <a:ext cx="108173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200" b="1">
                <a:solidFill>
                  <a:srgbClr val="1B1F3B"/>
                </a:solidFill>
                <a:latin typeface="Nunito"/>
              </a:rPr>
              <a:t>Ми з сестрою почали вивчати англійську мову.</a:t>
            </a:r>
          </a:p>
        </p:txBody>
      </p:sp>
      <p:grpSp>
        <p:nvGrpSpPr>
          <p:cNvPr id="16" name="Варіант А"/>
          <p:cNvGrpSpPr/>
          <p:nvPr/>
        </p:nvGrpSpPr>
        <p:grpSpPr>
          <a:xfrm>
            <a:off x="685800" y="3401568"/>
            <a:ext cx="10817352" cy="822960"/>
            <a:chOff x="685800" y="3401568"/>
            <a:chExt cx="10817352" cy="822960"/>
          </a:xfrm>
        </p:grpSpPr>
        <p:sp>
          <p:nvSpPr>
            <p:cNvPr id="17" name="Відповідь А">
              <a:hlinkClick r:id="rId3" action="ppaction://hlinksldjump" highlightClick="1"/>
            </p:cNvPr>
            <p:cNvSpPr/>
            <p:nvPr/>
          </p:nvSpPr>
          <p:spPr>
            <a:xfrm>
              <a:off x="685800" y="3401568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Ми почали</a:t>
              </a:r>
            </a:p>
          </p:txBody>
        </p:sp>
        <p:sp>
          <p:nvSpPr>
            <p:cNvPr id="18" name="Літера А">
              <a:hlinkClick r:id="rId3" action="ppaction://hlinksldjump" highlightClick="1"/>
            </p:cNvPr>
            <p:cNvSpPr/>
            <p:nvPr/>
          </p:nvSpPr>
          <p:spPr>
            <a:xfrm>
              <a:off x="914400" y="3538728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А</a:t>
              </a:r>
            </a:p>
          </p:txBody>
        </p:sp>
      </p:grpSp>
      <p:grpSp>
        <p:nvGrpSpPr>
          <p:cNvPr id="19" name="Варіант Б"/>
          <p:cNvGrpSpPr/>
          <p:nvPr/>
        </p:nvGrpSpPr>
        <p:grpSpPr>
          <a:xfrm>
            <a:off x="685800" y="4425696"/>
            <a:ext cx="10817352" cy="822960"/>
            <a:chOff x="685800" y="4425696"/>
            <a:chExt cx="10817352" cy="822960"/>
          </a:xfrm>
        </p:grpSpPr>
        <p:sp>
          <p:nvSpPr>
            <p:cNvPr id="20" name="Відповідь Б">
              <a:hlinkClick r:id="rId4" action="ppaction://hlinksldjump" highlightClick="1"/>
            </p:cNvPr>
            <p:cNvSpPr/>
            <p:nvPr/>
          </p:nvSpPr>
          <p:spPr>
            <a:xfrm>
              <a:off x="685800" y="4425696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Ми з сестрою почали вивчати</a:t>
              </a:r>
            </a:p>
          </p:txBody>
        </p:sp>
        <p:sp>
          <p:nvSpPr>
            <p:cNvPr id="21" name="Літера Б">
              <a:hlinkClick r:id="rId4" action="ppaction://hlinksldjump" highlightClick="1"/>
            </p:cNvPr>
            <p:cNvSpPr/>
            <p:nvPr/>
          </p:nvSpPr>
          <p:spPr>
            <a:xfrm>
              <a:off x="914400" y="4562856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Б</a:t>
              </a:r>
            </a:p>
          </p:txBody>
        </p:sp>
      </p:grpSp>
      <p:grpSp>
        <p:nvGrpSpPr>
          <p:cNvPr id="22" name="Варіант В"/>
          <p:cNvGrpSpPr/>
          <p:nvPr/>
        </p:nvGrpSpPr>
        <p:grpSpPr>
          <a:xfrm>
            <a:off x="685800" y="5449824"/>
            <a:ext cx="10817352" cy="822960"/>
            <a:chOff x="685800" y="5449824"/>
            <a:chExt cx="10817352" cy="822960"/>
          </a:xfrm>
        </p:grpSpPr>
        <p:sp>
          <p:nvSpPr>
            <p:cNvPr id="23" name="Відповідь В">
              <a:hlinkClick r:id="rId3" action="ppaction://hlinksldjump" highlightClick="1"/>
            </p:cNvPr>
            <p:cNvSpPr/>
            <p:nvPr/>
          </p:nvSpPr>
          <p:spPr>
            <a:xfrm>
              <a:off x="685800" y="5449824"/>
              <a:ext cx="10817352" cy="82296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28575">
              <a:solidFill>
                <a:srgbClr val="1B1F3B"/>
              </a:solidFill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0" tIns="0" bIns="0" rtlCol="0" anchor="ctr"/>
            <a:lstStyle/>
            <a:p>
              <a:pPr algn="l"/>
              <a:r>
                <a:rPr sz="2500" b="0">
                  <a:solidFill>
                    <a:srgbClr val="1B1F3B"/>
                  </a:solidFill>
                  <a:latin typeface="Nunito ExtraBold"/>
                </a:rPr>
                <a:t>сестрою вивчати</a:t>
              </a:r>
            </a:p>
          </p:txBody>
        </p:sp>
        <p:sp>
          <p:nvSpPr>
            <p:cNvPr id="24" name="Літера В">
              <a:hlinkClick r:id="rId3" action="ppaction://hlinksldjump" highlightClick="1"/>
            </p:cNvPr>
            <p:cNvSpPr/>
            <p:nvPr/>
          </p:nvSpPr>
          <p:spPr>
            <a:xfrm>
              <a:off x="914400" y="5586984"/>
              <a:ext cx="548640" cy="548640"/>
            </a:xfrm>
            <a:prstGeom prst="ellipse">
              <a:avLst/>
            </a:prstGeom>
            <a:solidFill>
              <a:srgbClr val="1B1F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bIns="0" rtlCol="0" anchor="ctr"/>
            <a:lstStyle/>
            <a:p>
              <a:pPr algn="ctr"/>
              <a:r>
                <a:rPr sz="1700" b="1">
                  <a:solidFill>
                    <a:srgbClr val="FFFFFF"/>
                  </a:solidFill>
                  <a:latin typeface="Unbounded"/>
                </a:rPr>
                <a:t>В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4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450"/>
                                </p:stCondLst>
                                <p:childTnLst>
                                  <p:par>
                                    <p:cTn id="11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3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800"/>
                                </p:stCondLst>
                                <p:childTnLst>
                                  <p:par>
                                    <p:cTn id="16" presetID="2" presetClass="entr" presetSubtype="2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4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 animBg="1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cor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8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✓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1A15A"/>
                </a:solidFill>
                <a:latin typeface="Unbounded"/>
              </a:rPr>
              <a:t>Правильно!</a:t>
            </a:r>
          </a:p>
        </p:txBody>
      </p:sp>
      <p:sp>
        <p:nvSpPr>
          <p:cNvPr id="16" name="Розбір"/>
          <p:cNvSpPr/>
          <p:nvPr/>
        </p:nvSpPr>
        <p:spPr>
          <a:xfrm>
            <a:off x="685800" y="2176272"/>
            <a:ext cx="10817352" cy="2148840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7" name="Речення з підкресленням" descr="q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10177272" cy="1865376"/>
          </a:xfrm>
          <a:prstGeom prst="rect">
            <a:avLst/>
          </a:prstGeom>
        </p:spPr>
      </p:pic>
      <p:sp>
        <p:nvSpPr>
          <p:cNvPr id="18" name="Пояснення"/>
          <p:cNvSpPr txBox="1"/>
          <p:nvPr/>
        </p:nvSpPr>
        <p:spPr>
          <a:xfrm>
            <a:off x="713232" y="4572000"/>
            <a:ext cx="758952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0">
                <a:solidFill>
                  <a:srgbClr val="1B1F3B"/>
                </a:solidFill>
                <a:latin typeface="Nunito"/>
              </a:rPr>
              <a:t>Підмет — словосполучення «ми з сестрою», присудок — складений дієслівний «почали вивчати».</a:t>
            </a:r>
          </a:p>
        </p:txBody>
      </p:sp>
      <p:sp>
        <p:nvSpPr>
          <p:cNvPr id="19" name="Конфеті 1"/>
          <p:cNvSpPr/>
          <p:nvPr/>
        </p:nvSpPr>
        <p:spPr>
          <a:xfrm rot="21353890">
            <a:off x="8975500" y="1486455"/>
            <a:ext cx="179452" cy="179452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2"/>
          <p:cNvSpPr/>
          <p:nvPr/>
        </p:nvSpPr>
        <p:spPr>
          <a:xfrm rot="13893550">
            <a:off x="217447" y="1631830"/>
            <a:ext cx="124598" cy="68528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3"/>
          <p:cNvSpPr/>
          <p:nvPr/>
        </p:nvSpPr>
        <p:spPr>
          <a:xfrm rot="20080626">
            <a:off x="1654111" y="957709"/>
            <a:ext cx="182135" cy="100174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4"/>
          <p:cNvSpPr/>
          <p:nvPr/>
        </p:nvSpPr>
        <p:spPr>
          <a:xfrm rot="19481628">
            <a:off x="9937273" y="1893448"/>
            <a:ext cx="138319" cy="138319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5"/>
          <p:cNvSpPr/>
          <p:nvPr/>
        </p:nvSpPr>
        <p:spPr>
          <a:xfrm rot="8315947">
            <a:off x="387216" y="1416931"/>
            <a:ext cx="101061" cy="55583"/>
          </a:xfrm>
          <a:prstGeom prst="roundRect">
            <a:avLst>
              <a:gd name="adj" fmla="val 50000"/>
            </a:avLst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6"/>
          <p:cNvSpPr/>
          <p:nvPr/>
        </p:nvSpPr>
        <p:spPr>
          <a:xfrm rot="4105710">
            <a:off x="1931240" y="950343"/>
            <a:ext cx="171972" cy="171972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7"/>
          <p:cNvSpPr/>
          <p:nvPr/>
        </p:nvSpPr>
        <p:spPr>
          <a:xfrm rot="14571956">
            <a:off x="10197590" y="1323377"/>
            <a:ext cx="95881" cy="95881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8"/>
          <p:cNvSpPr/>
          <p:nvPr/>
        </p:nvSpPr>
        <p:spPr>
          <a:xfrm rot="11976279">
            <a:off x="502287" y="1701336"/>
            <a:ext cx="140972" cy="140972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9"/>
          <p:cNvSpPr/>
          <p:nvPr/>
        </p:nvSpPr>
        <p:spPr>
          <a:xfrm rot="4186309">
            <a:off x="1893763" y="942732"/>
            <a:ext cx="143660" cy="143660"/>
          </a:xfrm>
          <a:prstGeom prst="triangl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10"/>
          <p:cNvSpPr/>
          <p:nvPr/>
        </p:nvSpPr>
        <p:spPr>
          <a:xfrm rot="3902664">
            <a:off x="9964591" y="1646468"/>
            <a:ext cx="129032" cy="129032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11"/>
          <p:cNvSpPr/>
          <p:nvPr/>
        </p:nvSpPr>
        <p:spPr>
          <a:xfrm rot="12587884">
            <a:off x="235083" y="1104524"/>
            <a:ext cx="161859" cy="161859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12"/>
          <p:cNvSpPr/>
          <p:nvPr/>
        </p:nvSpPr>
        <p:spPr>
          <a:xfrm rot="3517027">
            <a:off x="1656833" y="997598"/>
            <a:ext cx="128675" cy="70771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13"/>
          <p:cNvSpPr/>
          <p:nvPr/>
        </p:nvSpPr>
        <p:spPr>
          <a:xfrm rot="13043660">
            <a:off x="11082574" y="1818831"/>
            <a:ext cx="133477" cy="133477"/>
          </a:xfrm>
          <a:prstGeom prst="ellips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14"/>
          <p:cNvSpPr/>
          <p:nvPr/>
        </p:nvSpPr>
        <p:spPr>
          <a:xfrm rot="6503923">
            <a:off x="370411" y="1656038"/>
            <a:ext cx="122263" cy="122263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15"/>
          <p:cNvSpPr/>
          <p:nvPr/>
        </p:nvSpPr>
        <p:spPr>
          <a:xfrm rot="11747888">
            <a:off x="1694518" y="894251"/>
            <a:ext cx="104103" cy="104103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онфеті 16"/>
          <p:cNvSpPr/>
          <p:nvPr/>
        </p:nvSpPr>
        <p:spPr>
          <a:xfrm rot="5645959">
            <a:off x="6958904" y="1645627"/>
            <a:ext cx="139665" cy="139665"/>
          </a:xfrm>
          <a:prstGeom prst="ellips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Конфеті 17"/>
          <p:cNvSpPr/>
          <p:nvPr/>
        </p:nvSpPr>
        <p:spPr>
          <a:xfrm rot="16613614">
            <a:off x="276661" y="1739448"/>
            <a:ext cx="133564" cy="133564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Конфеті 18"/>
          <p:cNvSpPr/>
          <p:nvPr/>
        </p:nvSpPr>
        <p:spPr>
          <a:xfrm rot="18562329">
            <a:off x="2006447" y="931611"/>
            <a:ext cx="175681" cy="175681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Далі">
            <a:hlinkClick r:id="rId5" action="ppaction://hlinksldjump" highlightClick="1"/>
          </p:cNvPr>
          <p:cNvSpPr/>
          <p:nvPr/>
        </p:nvSpPr>
        <p:spPr>
          <a:xfrm>
            <a:off x="8778240" y="5760720"/>
            <a:ext cx="2724912" cy="640080"/>
          </a:xfrm>
          <a:prstGeom prst="roundRect">
            <a:avLst>
              <a:gd name="adj" fmla="val 50000"/>
            </a:avLst>
          </a:prstGeom>
          <a:solidFill>
            <a:srgbClr val="11A15A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Nunito ExtraBold"/>
              </a:rPr>
              <a:t>Завершити тест  </a:t>
            </a:r>
            <a:r>
              <a:rPr sz="1600" b="1">
                <a:solidFill>
                  <a:srgbClr val="FFFFFF"/>
                </a:solidFill>
                <a:latin typeface="Unbounded"/>
              </a:rPr>
              <a:t>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6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 p14:presetBounceEnd="45000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 p14:presetBounceEnd="45000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 p14:presetBounceEnd="45000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 p14:presetBounceEnd="45000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 p14:presetBounceEnd="45000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 p14:presetBounceEnd="45000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 p14:presetBounceEnd="45000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 p14:presetBounceEnd="45000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 p14:presetBounceEnd="45000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 p14:presetBounceEnd="45000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 p14:presetBounceEnd="45000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decel="50000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5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5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4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35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1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3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3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5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35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3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35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16" fill="hold" grpId="0" nodeType="withEffect">
                                      <p:stCondLst>
                                        <p:cond delay="273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35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455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35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23" presetClass="entr" presetSubtype="16" fill="hold" grpId="0" nodeType="withEffect">
                                      <p:stCondLst>
                                        <p:cond delay="136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35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318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3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1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2" dur="3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182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35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3" presetClass="entr" presetSubtype="16" fill="hold" grpId="0" nodeType="withEffect">
                                      <p:stCondLst>
                                        <p:cond delay="364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9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0" dur="35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1" presetID="23" presetClass="entr" presetSubtype="16" fill="hold" grpId="0" nodeType="withEffect">
                                      <p:stCondLst>
                                        <p:cond delay="45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3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3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5" presetID="23" presetClass="entr" presetSubtype="16" fill="hold" grpId="0" nodeType="withEffect">
                                      <p:stCondLst>
                                        <p:cond delay="227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7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8" dur="3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9" presetID="23" presetClass="entr" presetSubtype="16" fill="hold" grpId="0" nodeType="withEffect">
                                      <p:stCondLst>
                                        <p:cond delay="409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1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2" dur="35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3" presetID="23" presetClass="entr" presetSubtype="16" fill="hold" grpId="0" nodeType="withEffect">
                                      <p:stCondLst>
                                        <p:cond delay="91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3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805"/>
                                </p:stCondLst>
                                <p:childTnLst>
                                  <p:par>
                                    <p:cTn id="88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3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3" dur="9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4" fill="hold">
                                <p:stCondLst>
                                  <p:cond delay="1805"/>
                                </p:stCondLst>
                                <p:childTnLst>
                                  <p:par>
                                    <p:cTn id="95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4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23" presetClass="entr" presetSubtype="1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2" fill="hold">
                                <p:stCondLst>
                                  <p:cond delay="2355"/>
                                </p:stCondLst>
                                <p:childTnLst>
                                  <p:par>
                                    <p:cTn id="103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104" dur="55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/>
          <p:bldP spid="16" grpId="0" animBg="1"/>
          <p:bldP spid="18" grpId="0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7" grpId="1" animBg="1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wr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Розділ"/>
          <p:cNvSpPr/>
          <p:nvPr/>
        </p:nvSpPr>
        <p:spPr>
          <a:xfrm>
            <a:off x="502920" y="32918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Unbounded"/>
              </a:rPr>
              <a:t>03</a:t>
            </a:r>
          </a:p>
        </p:txBody>
      </p:sp>
      <p:sp>
        <p:nvSpPr>
          <p:cNvPr id="4" name="Розділ назва"/>
          <p:cNvSpPr txBox="1"/>
          <p:nvPr/>
        </p:nvSpPr>
        <p:spPr>
          <a:xfrm>
            <a:off x="1097280" y="3291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1F3B"/>
                </a:solidFill>
                <a:latin typeface="Nunito ExtraBold"/>
              </a:rPr>
              <a:t>Тест · питання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32918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B6180"/>
                </a:solidFill>
                <a:latin typeface="Nunito ExtraBold"/>
              </a:rPr>
              <a:t>Питання 8 / 8</a:t>
            </a:r>
          </a:p>
        </p:txBody>
      </p:sp>
      <p:sp>
        <p:nvSpPr>
          <p:cNvPr id="6" name="Прогрес"/>
          <p:cNvSpPr/>
          <p:nvPr/>
        </p:nvSpPr>
        <p:spPr>
          <a:xfrm>
            <a:off x="1014984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Прогрес"/>
          <p:cNvSpPr/>
          <p:nvPr/>
        </p:nvSpPr>
        <p:spPr>
          <a:xfrm>
            <a:off x="1035100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Прогрес"/>
          <p:cNvSpPr/>
          <p:nvPr/>
        </p:nvSpPr>
        <p:spPr>
          <a:xfrm>
            <a:off x="10552176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Прогрес"/>
          <p:cNvSpPr/>
          <p:nvPr/>
        </p:nvSpPr>
        <p:spPr>
          <a:xfrm>
            <a:off x="10753344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Прогрес"/>
          <p:cNvSpPr/>
          <p:nvPr/>
        </p:nvSpPr>
        <p:spPr>
          <a:xfrm>
            <a:off x="10954512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Прогрес"/>
          <p:cNvSpPr/>
          <p:nvPr/>
        </p:nvSpPr>
        <p:spPr>
          <a:xfrm>
            <a:off x="11155680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Прогрес"/>
          <p:cNvSpPr/>
          <p:nvPr/>
        </p:nvSpPr>
        <p:spPr>
          <a:xfrm>
            <a:off x="11356848" y="493776"/>
            <a:ext cx="128016" cy="128016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Прогрес"/>
          <p:cNvSpPr/>
          <p:nvPr/>
        </p:nvSpPr>
        <p:spPr>
          <a:xfrm>
            <a:off x="11558016" y="493776"/>
            <a:ext cx="128016" cy="128016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Значок"/>
          <p:cNvSpPr/>
          <p:nvPr/>
        </p:nvSpPr>
        <p:spPr>
          <a:xfrm>
            <a:off x="685800" y="1051560"/>
            <a:ext cx="868680" cy="868680"/>
          </a:xfrm>
          <a:prstGeom prst="ellipse">
            <a:avLst/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✕</a:t>
            </a:r>
          </a:p>
        </p:txBody>
      </p:sp>
      <p:sp>
        <p:nvSpPr>
          <p:cNvPr id="15" name="Заголовок"/>
          <p:cNvSpPr txBox="1"/>
          <p:nvPr/>
        </p:nvSpPr>
        <p:spPr>
          <a:xfrm>
            <a:off x="1783080" y="1051560"/>
            <a:ext cx="7315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E5484D"/>
                </a:solidFill>
                <a:latin typeface="Unbounded"/>
              </a:rPr>
              <a:t>Ой, не зовсім…</a:t>
            </a:r>
          </a:p>
        </p:txBody>
      </p:sp>
      <p:grpSp>
        <p:nvGrpSpPr>
          <p:cNvPr id="16" name="Картка підказки"/>
          <p:cNvGrpSpPr/>
          <p:nvPr/>
        </p:nvGrpSpPr>
        <p:grpSpPr>
          <a:xfrm>
            <a:off x="685800" y="2240280"/>
            <a:ext cx="10817352" cy="2514600"/>
            <a:chOff x="685800" y="2240280"/>
            <a:chExt cx="10817352" cy="2514600"/>
          </a:xfrm>
        </p:grpSpPr>
        <p:sp>
          <p:nvSpPr>
            <p:cNvPr id="17" name="Підказка"/>
            <p:cNvSpPr/>
            <p:nvPr/>
          </p:nvSpPr>
          <p:spPr>
            <a:xfrm>
              <a:off x="685800" y="2240280"/>
              <a:ext cx="10817352" cy="25146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>
              <a:noFill/>
            </a:ln>
            <a:effectLst>
              <a:outerShdw blurRad="228600" dist="76200" dir="5400000" algn="t" rotWithShape="0">
                <a:srgbClr val="1B1F3B">
                  <a:alpha val="1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51560" y="2468880"/>
              <a:ext cx="3657600" cy="54864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spcAft>
                  <a:spcPts val="0"/>
                </a:spcAft>
              </a:pPr>
              <a:r>
                <a:rPr sz="3200" b="1">
                  <a:solidFill>
                    <a:srgbClr val="E5484D"/>
                  </a:solidFill>
                  <a:latin typeface="Caveat"/>
                </a:rPr>
                <a:t>підказка</a:t>
              </a:r>
            </a:p>
          </p:txBody>
        </p:sp>
        <p:sp>
          <p:nvSpPr>
            <p:cNvPr id="19" name="Текст підказки"/>
            <p:cNvSpPr txBox="1"/>
            <p:nvPr/>
          </p:nvSpPr>
          <p:spPr>
            <a:xfrm>
              <a:off x="1051560" y="3063240"/>
              <a:ext cx="10058400" cy="155448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400" b="0">
                  <a:solidFill>
                    <a:srgbClr val="1B1F3B"/>
                  </a:solidFill>
                  <a:latin typeface="Nunito"/>
                </a:rPr>
                <a:t>Підметом може бути ціле словосполучення, а присудок може складатися з двох дієслів. Не губи жодної частини!</a:t>
              </a:r>
            </a:p>
          </p:txBody>
        </p:sp>
      </p:grpSp>
      <p:sp>
        <p:nvSpPr>
          <p:cNvPr id="20" name="Ще раз">
            <a:hlinkClick r:id="rId4" action="ppaction://hlinksldjump" highlightClick="1"/>
          </p:cNvPr>
          <p:cNvSpPr/>
          <p:nvPr/>
        </p:nvSpPr>
        <p:spPr>
          <a:xfrm>
            <a:off x="8138160" y="5623560"/>
            <a:ext cx="3364992" cy="71323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Unbounded"/>
              </a:rPr>
              <a:t>← </a:t>
            </a:r>
            <a:r>
              <a:rPr sz="1800" b="0">
                <a:solidFill>
                  <a:srgbClr val="FFFFFF"/>
                </a:solidFill>
                <a:latin typeface="Nunito ExtraBold"/>
              </a:rPr>
              <a:t>Спробувати ще раз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whoosh.wav"/>
          </p:stSnd>
        </p:sndAc>
      </p:transition>
    </mc:Choice>
    <mc:Fallback xmlns="">
      <p:transition>
        <p:fade/>
        <p:sndAc>
          <p:stSnd>
            <p:snd r:embed="rId5" name="whoosh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 p14:presetBounceEnd="45000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after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4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4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3" presetID="32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14" dur="6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5" dur="120" fill="hold">
                                              <p:stCondLst>
                                                <p:cond delay="12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16" dur="120" fill="hold">
                                              <p:stCondLst>
                                                <p:cond delay="24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17" dur="120" fill="hold">
                                              <p:stCondLst>
                                                <p:cond delay="36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18" dur="120" fill="hold">
                                              <p:stCondLst>
                                                <p:cond delay="48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9" presetID="37" presetClass="entr" presetSubtype="0" decel="50000" fill="hold" nodeType="withEffect">
                                      <p:stCondLst>
                                        <p:cond delay="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450" decel="100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" accel="100000" fill="hold">
                                              <p:stCondLst>
                                                <p:cond delay="45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4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1" presetID="6" presetClass="emph" presetSubtype="0" repeatCount="400000" autoRev="1" fill="hold" grpId="1" nodeType="afterEffect">
                                      <p:stCondLst>
                                        <p:cond delay="40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50" fill="hold"/>
                                            <p:tgtEl>
                                              <p:spTgt spid="20"/>
                                            </p:tgtEl>
                                          </p:cBhvr>
                                          <p:by x="150000" y="150000"/>
                                          <p:to x="107000" y="107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4" grpId="1" animBg="1"/>
          <p:bldP spid="15" grpId="0"/>
          <p:bldP spid="20" grpId="0" animBg="1"/>
          <p:bldP spid="20" grpId="1" animBg="1"/>
        </p:bld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Фон" descr="BgX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Штамп" descr="Stamp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74320"/>
            <a:ext cx="2560320" cy="2560320"/>
          </a:xfrm>
          <a:prstGeom prst="rect">
            <a:avLst/>
          </a:prstGeom>
        </p:spPr>
      </p:pic>
      <p:sp>
        <p:nvSpPr>
          <p:cNvPr id="4" name="Конфеті 1"/>
          <p:cNvSpPr/>
          <p:nvPr/>
        </p:nvSpPr>
        <p:spPr>
          <a:xfrm rot="10422838">
            <a:off x="3446997" y="113501"/>
            <a:ext cx="130030" cy="130030"/>
          </a:xfrm>
          <a:prstGeom prst="star5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Конфеті 2"/>
          <p:cNvSpPr/>
          <p:nvPr/>
        </p:nvSpPr>
        <p:spPr>
          <a:xfrm rot="35983">
            <a:off x="11088454" y="4145629"/>
            <a:ext cx="147012" cy="147012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Конфеті 3"/>
          <p:cNvSpPr/>
          <p:nvPr/>
        </p:nvSpPr>
        <p:spPr>
          <a:xfrm rot="1270605">
            <a:off x="10870614" y="2501681"/>
            <a:ext cx="145083" cy="145083"/>
          </a:xfrm>
          <a:prstGeom prst="triangl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Конфеті 4"/>
          <p:cNvSpPr/>
          <p:nvPr/>
        </p:nvSpPr>
        <p:spPr>
          <a:xfrm rot="8739669">
            <a:off x="5753345" y="394394"/>
            <a:ext cx="164656" cy="164656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Конфеті 5"/>
          <p:cNvSpPr/>
          <p:nvPr/>
        </p:nvSpPr>
        <p:spPr>
          <a:xfrm rot="10992800">
            <a:off x="11610380" y="4654402"/>
            <a:ext cx="167028" cy="167028"/>
          </a:xfrm>
          <a:prstGeom prst="ellips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Конфеті 6"/>
          <p:cNvSpPr/>
          <p:nvPr/>
        </p:nvSpPr>
        <p:spPr>
          <a:xfrm rot="20980542">
            <a:off x="11717799" y="2418598"/>
            <a:ext cx="91446" cy="91446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Конфеті 7"/>
          <p:cNvSpPr/>
          <p:nvPr/>
        </p:nvSpPr>
        <p:spPr>
          <a:xfrm rot="3698224">
            <a:off x="8629968" y="417440"/>
            <a:ext cx="136560" cy="75108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Конфеті 8"/>
          <p:cNvSpPr/>
          <p:nvPr/>
        </p:nvSpPr>
        <p:spPr>
          <a:xfrm rot="10298194">
            <a:off x="10898365" y="4301136"/>
            <a:ext cx="164342" cy="164342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Конфеті 9"/>
          <p:cNvSpPr/>
          <p:nvPr/>
        </p:nvSpPr>
        <p:spPr>
          <a:xfrm rot="21088161">
            <a:off x="11270130" y="2407675"/>
            <a:ext cx="120978" cy="120978"/>
          </a:xfrm>
          <a:prstGeom prst="ellipse">
            <a:avLst/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Конфеті 10"/>
          <p:cNvSpPr/>
          <p:nvPr/>
        </p:nvSpPr>
        <p:spPr>
          <a:xfrm rot="14553493">
            <a:off x="8411928" y="410684"/>
            <a:ext cx="149043" cy="149043"/>
          </a:xfrm>
          <a:prstGeom prst="star5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Конфеті 11"/>
          <p:cNvSpPr/>
          <p:nvPr/>
        </p:nvSpPr>
        <p:spPr>
          <a:xfrm rot="17498313">
            <a:off x="10276101" y="3608888"/>
            <a:ext cx="93745" cy="51560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Конфеті 12"/>
          <p:cNvSpPr/>
          <p:nvPr/>
        </p:nvSpPr>
        <p:spPr>
          <a:xfrm rot="11210342">
            <a:off x="10890014" y="2691658"/>
            <a:ext cx="132589" cy="132589"/>
          </a:xfrm>
          <a:prstGeom prst="ellipse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Конфеті 13"/>
          <p:cNvSpPr/>
          <p:nvPr/>
        </p:nvSpPr>
        <p:spPr>
          <a:xfrm rot="2216445">
            <a:off x="2830696" y="180753"/>
            <a:ext cx="104642" cy="104642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Конфеті 14"/>
          <p:cNvSpPr/>
          <p:nvPr/>
        </p:nvSpPr>
        <p:spPr>
          <a:xfrm rot="5973429">
            <a:off x="9688024" y="3381594"/>
            <a:ext cx="137614" cy="75687"/>
          </a:xfrm>
          <a:prstGeom prst="roundRect">
            <a:avLst>
              <a:gd name="adj" fmla="val 50000"/>
            </a:avLst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Конфеті 15"/>
          <p:cNvSpPr/>
          <p:nvPr/>
        </p:nvSpPr>
        <p:spPr>
          <a:xfrm rot="6088949">
            <a:off x="11084748" y="2512151"/>
            <a:ext cx="116914" cy="116914"/>
          </a:xfrm>
          <a:prstGeom prst="ellips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Конфеті 16"/>
          <p:cNvSpPr/>
          <p:nvPr/>
        </p:nvSpPr>
        <p:spPr>
          <a:xfrm rot="19963794">
            <a:off x="4052075" y="453213"/>
            <a:ext cx="130200" cy="130200"/>
          </a:xfrm>
          <a:prstGeom prst="triangle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Конфеті 17"/>
          <p:cNvSpPr/>
          <p:nvPr/>
        </p:nvSpPr>
        <p:spPr>
          <a:xfrm rot="144164">
            <a:off x="11261837" y="3255908"/>
            <a:ext cx="118927" cy="65410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Конфеті 18"/>
          <p:cNvSpPr/>
          <p:nvPr/>
        </p:nvSpPr>
        <p:spPr>
          <a:xfrm rot="864496">
            <a:off x="10595394" y="2668199"/>
            <a:ext cx="109278" cy="109278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Конфеті 19"/>
          <p:cNvSpPr/>
          <p:nvPr/>
        </p:nvSpPr>
        <p:spPr>
          <a:xfrm rot="20034153">
            <a:off x="8768882" y="284714"/>
            <a:ext cx="144565" cy="144565"/>
          </a:xfrm>
          <a:prstGeom prst="star5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Конфеті 20"/>
          <p:cNvSpPr/>
          <p:nvPr/>
        </p:nvSpPr>
        <p:spPr>
          <a:xfrm rot="10847558">
            <a:off x="10971453" y="3278362"/>
            <a:ext cx="171007" cy="171007"/>
          </a:xfrm>
          <a:prstGeom prst="star5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Конфеті 21"/>
          <p:cNvSpPr/>
          <p:nvPr/>
        </p:nvSpPr>
        <p:spPr>
          <a:xfrm rot="3502389">
            <a:off x="10717028" y="2723696"/>
            <a:ext cx="131556" cy="131556"/>
          </a:xfrm>
          <a:prstGeom prst="star5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Конфеті 22"/>
          <p:cNvSpPr/>
          <p:nvPr/>
        </p:nvSpPr>
        <p:spPr>
          <a:xfrm rot="13829001">
            <a:off x="4290798" y="437708"/>
            <a:ext cx="111598" cy="111598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Конфеті 23"/>
          <p:cNvSpPr/>
          <p:nvPr/>
        </p:nvSpPr>
        <p:spPr>
          <a:xfrm rot="14759170">
            <a:off x="11187701" y="3957980"/>
            <a:ext cx="127065" cy="69886"/>
          </a:xfrm>
          <a:prstGeom prst="roundRect">
            <a:avLst>
              <a:gd name="adj" fmla="val 50000"/>
            </a:avLst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Конфеті 24"/>
          <p:cNvSpPr/>
          <p:nvPr/>
        </p:nvSpPr>
        <p:spPr>
          <a:xfrm rot="5210592">
            <a:off x="11149126" y="2474670"/>
            <a:ext cx="152111" cy="83661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Конфеті 25"/>
          <p:cNvSpPr/>
          <p:nvPr/>
        </p:nvSpPr>
        <p:spPr>
          <a:xfrm rot="16425381">
            <a:off x="6041931" y="326807"/>
            <a:ext cx="126078" cy="126078"/>
          </a:xfrm>
          <a:prstGeom prst="ellips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Конфеті 26"/>
          <p:cNvSpPr/>
          <p:nvPr/>
        </p:nvSpPr>
        <p:spPr>
          <a:xfrm rot="12029661">
            <a:off x="11569358" y="4583469"/>
            <a:ext cx="124305" cy="124305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Конфеті 27"/>
          <p:cNvSpPr/>
          <p:nvPr/>
        </p:nvSpPr>
        <p:spPr>
          <a:xfrm rot="3357162">
            <a:off x="11156890" y="2383698"/>
            <a:ext cx="180869" cy="180869"/>
          </a:xfrm>
          <a:prstGeom prst="triangle">
            <a:avLst/>
          </a:prstGeom>
          <a:solidFill>
            <a:srgbClr val="8A3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Конфеті 28"/>
          <p:cNvSpPr/>
          <p:nvPr/>
        </p:nvSpPr>
        <p:spPr>
          <a:xfrm rot="4323651">
            <a:off x="8140757" y="426104"/>
            <a:ext cx="85403" cy="85403"/>
          </a:xfrm>
          <a:prstGeom prst="ellips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Конфеті 29"/>
          <p:cNvSpPr/>
          <p:nvPr/>
        </p:nvSpPr>
        <p:spPr>
          <a:xfrm rot="20174906">
            <a:off x="11133468" y="3183750"/>
            <a:ext cx="175542" cy="175542"/>
          </a:xfrm>
          <a:prstGeom prst="ellipse">
            <a:avLst/>
          </a:prstGeom>
          <a:solidFill>
            <a:srgbClr val="11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Конфеті 30"/>
          <p:cNvSpPr/>
          <p:nvPr/>
        </p:nvSpPr>
        <p:spPr>
          <a:xfrm rot="12938457">
            <a:off x="11242889" y="2423057"/>
            <a:ext cx="151609" cy="151609"/>
          </a:xfrm>
          <a:prstGeom prst="triangle">
            <a:avLst/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Клас"/>
          <p:cNvSpPr txBox="1"/>
          <p:nvPr/>
        </p:nvSpPr>
        <p:spPr>
          <a:xfrm>
            <a:off x="713232" y="5669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1400" b="0" spc="300">
                <a:solidFill>
                  <a:srgbClr val="5CE1E6"/>
                </a:solidFill>
                <a:latin typeface="Nunito ExtraBold"/>
              </a:rPr>
              <a:t>ТЕСТ ПРОЙДЕНО</a:t>
            </a:r>
          </a:p>
        </p:txBody>
      </p:sp>
      <p:sp>
        <p:nvSpPr>
          <p:cNvPr id="35" name="Заголовок"/>
          <p:cNvSpPr txBox="1"/>
          <p:nvPr/>
        </p:nvSpPr>
        <p:spPr>
          <a:xfrm>
            <a:off x="658368" y="91440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Unbounded"/>
              </a:rPr>
              <a:t>Молодець!</a:t>
            </a:r>
          </a:p>
        </p:txBody>
      </p:sp>
      <p:sp>
        <p:nvSpPr>
          <p:cNvPr id="36" name="Підзаголовок"/>
          <p:cNvSpPr txBox="1"/>
          <p:nvPr/>
        </p:nvSpPr>
        <p:spPr>
          <a:xfrm>
            <a:off x="731520" y="1965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E45C"/>
                </a:solidFill>
                <a:latin typeface="Caveat"/>
              </a:rPr>
              <a:t>тепер ти бачиш скелет будь-якого речення</a:t>
            </a:r>
          </a:p>
        </p:txBody>
      </p:sp>
      <p:sp>
        <p:nvSpPr>
          <p:cNvPr id="37" name="Формула підмет"/>
          <p:cNvSpPr/>
          <p:nvPr/>
        </p:nvSpPr>
        <p:spPr>
          <a:xfrm>
            <a:off x="685800" y="2880360"/>
            <a:ext cx="2103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2200" b="1" u="sng">
                <a:solidFill>
                  <a:srgbClr val="2D6BFF"/>
                </a:solidFill>
                <a:uFill>
                  <a:solidFill>
                    <a:srgbClr val="2D6BFF"/>
                  </a:solidFill>
                </a:uFill>
                <a:latin typeface="Unbounded"/>
              </a:rPr>
              <a:t>підмет</a:t>
            </a:r>
          </a:p>
        </p:txBody>
      </p:sp>
      <p:sp>
        <p:nvSpPr>
          <p:cNvPr id="38" name="Знак плюс"/>
          <p:cNvSpPr txBox="1"/>
          <p:nvPr/>
        </p:nvSpPr>
        <p:spPr>
          <a:xfrm>
            <a:off x="2880360" y="288036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Unbounded"/>
              </a:rPr>
              <a:t>+</a:t>
            </a:r>
          </a:p>
        </p:txBody>
      </p:sp>
      <p:sp>
        <p:nvSpPr>
          <p:cNvPr id="39" name="Формула присудок"/>
          <p:cNvSpPr/>
          <p:nvPr/>
        </p:nvSpPr>
        <p:spPr>
          <a:xfrm>
            <a:off x="3429000" y="2880360"/>
            <a:ext cx="251460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2200" b="1" u="dbl">
                <a:solidFill>
                  <a:srgbClr val="FF5A1F"/>
                </a:solidFill>
                <a:uFill>
                  <a:solidFill>
                    <a:srgbClr val="FF5A1F"/>
                  </a:solidFill>
                </a:uFill>
                <a:latin typeface="Unbounded"/>
              </a:rPr>
              <a:t>присудок</a:t>
            </a:r>
          </a:p>
        </p:txBody>
      </p:sp>
      <p:sp>
        <p:nvSpPr>
          <p:cNvPr id="40" name="Знак дорівнює"/>
          <p:cNvSpPr txBox="1"/>
          <p:nvPr/>
        </p:nvSpPr>
        <p:spPr>
          <a:xfrm>
            <a:off x="6035040" y="288036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Unbounded"/>
              </a:rPr>
              <a:t>=</a:t>
            </a:r>
          </a:p>
        </p:txBody>
      </p:sp>
      <p:sp>
        <p:nvSpPr>
          <p:cNvPr id="41" name="Формула основа"/>
          <p:cNvSpPr/>
          <p:nvPr/>
        </p:nvSpPr>
        <p:spPr>
          <a:xfrm>
            <a:off x="6583680" y="2880360"/>
            <a:ext cx="3566160" cy="868680"/>
          </a:xfrm>
          <a:prstGeom prst="roundRect">
            <a:avLst>
              <a:gd name="adj" fmla="val 16842"/>
            </a:avLst>
          </a:prstGeom>
          <a:solidFill>
            <a:srgbClr val="5CE1E6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2000" b="1">
                <a:solidFill>
                  <a:srgbClr val="06101F"/>
                </a:solidFill>
                <a:latin typeface="Unbounded"/>
              </a:rPr>
              <a:t>граматична основа</a:t>
            </a:r>
          </a:p>
        </p:txBody>
      </p:sp>
      <p:sp>
        <p:nvSpPr>
          <p:cNvPr id="45" name="Технології"/>
          <p:cNvSpPr txBox="1"/>
          <p:nvPr/>
        </p:nvSpPr>
        <p:spPr>
          <a:xfrm>
            <a:off x="713232" y="525780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5CE1E6"/>
                </a:solidFill>
                <a:latin typeface="Nunito ExtraBold"/>
              </a:rPr>
              <a:t>Які технології використано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A9C7D6"/>
                </a:solidFill>
                <a:latin typeface="Nunito"/>
              </a:rPr>
              <a:t>Анімаційне відео: Remotion, анімація написана кодом (React). Озвучка: українська нейромережа HolosTTS, що працює офлайн, з вичитаними наголосами; субтитри синхронізовані з голосом. Тест: гіперпосилання PowerPoint, без макросів, працює офлайн. Сценарій, дизайн і код створено разом зі штучним інтелектом (Claude).</a:t>
            </a:r>
          </a:p>
        </p:txBody>
      </p:sp>
      <p:sp>
        <p:nvSpPr>
          <p:cNvPr id="42" name="Тест ще раз">
            <a:hlinkClick r:id="rId5" action="ppaction://hlinksldjump" highlightClick="1"/>
          </p:cNvPr>
          <p:cNvSpPr/>
          <p:nvPr/>
        </p:nvSpPr>
        <p:spPr>
          <a:xfrm>
            <a:off x="685800" y="4160520"/>
            <a:ext cx="3017520" cy="603504"/>
          </a:xfrm>
          <a:prstGeom prst="roundRect">
            <a:avLst>
              <a:gd name="adj" fmla="val 50000"/>
            </a:avLst>
          </a:prstGeom>
          <a:solidFill>
            <a:srgbClr val="5CE1E6"/>
          </a:solidFill>
          <a:ln>
            <a:noFill/>
          </a:ln>
          <a:effectLst>
            <a:outerShdw blurRad="228600" dist="76200" dir="5400000" algn="t" rotWithShape="0">
              <a:srgbClr val="1B1F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06101F"/>
                </a:solidFill>
                <a:latin typeface="Nunito ExtraBold"/>
              </a:rPr>
              <a:t>Пройти тест ще раз</a:t>
            </a:r>
          </a:p>
        </p:txBody>
      </p:sp>
      <p:sp>
        <p:nvSpPr>
          <p:cNvPr id="43" name="Відео ще раз">
            <a:hlinkClick r:id="rId6" action="ppaction://hlinksldjump" highlightClick="1"/>
          </p:cNvPr>
          <p:cNvSpPr/>
          <p:nvPr/>
        </p:nvSpPr>
        <p:spPr>
          <a:xfrm>
            <a:off x="3886200" y="4160520"/>
            <a:ext cx="2926080" cy="603504"/>
          </a:xfrm>
          <a:prstGeom prst="roundRect">
            <a:avLst>
              <a:gd name="adj" fmla="val 50000"/>
            </a:avLst>
          </a:prstGeom>
          <a:solidFill>
            <a:srgbClr val="06101F"/>
          </a:solidFill>
          <a:ln w="25400"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5CE1E6"/>
                </a:solidFill>
                <a:latin typeface="Nunito ExtraBold"/>
              </a:rPr>
              <a:t>Переглянути відео</a:t>
            </a:r>
          </a:p>
        </p:txBody>
      </p:sp>
      <p:sp>
        <p:nvSpPr>
          <p:cNvPr id="44" name="На початок">
            <a:hlinkClick r:id="rId7" action="ppaction://hlinksldjump" highlightClick="1"/>
          </p:cNvPr>
          <p:cNvSpPr/>
          <p:nvPr/>
        </p:nvSpPr>
        <p:spPr>
          <a:xfrm>
            <a:off x="6995160" y="416052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6101F"/>
          </a:solidFill>
          <a:ln w="25400"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700" b="0">
                <a:solidFill>
                  <a:srgbClr val="5CE1E6"/>
                </a:solidFill>
                <a:latin typeface="Nunito ExtraBold"/>
              </a:rPr>
              <a:t>На початок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  <p:sndAc>
          <p:stSnd>
            <p:snd r:embed="rId2" name="ding.wav"/>
          </p:stSnd>
        </p:sndAc>
      </p:transition>
    </mc:Choice>
    <mc:Fallback xmlns="">
      <p:transition>
        <p:fade/>
        <p:sndAc>
          <p:stSnd>
            <p:snd r:embed="rId8" name="ding.wav"/>
          </p:stSnd>
        </p:sndAc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decel="50000" fill="hold" grpId="0" nodeType="after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3" presetClass="entr" presetSubtype="16" fill="hold" grpId="0" nodeType="withEffect" p14:presetBounceEnd="45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9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9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2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2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14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14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6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6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" decel="50000" fill="hold" grpId="0" nodeType="withEffect">
                                      <p:stCondLst>
                                        <p:cond delay="738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38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38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decel="50000" fill="hold" grpId="0" nodeType="withEffect">
                                      <p:stCondLst>
                                        <p:cond delay="523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1" decel="50000" fill="hold" grpId="0" nodeType="withEffect">
                                      <p:stCondLst>
                                        <p:cond delay="308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2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2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decel="50000" fill="hold" grpId="0" nodeType="withEffect">
                                      <p:stCondLst>
                                        <p:cond delay="1492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14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14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decel="50000" fill="hold" grpId="0" nodeType="withEffect">
                                      <p:stCondLst>
                                        <p:cond delay="1277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26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26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decel="50000" fill="hold" grpId="0" nodeType="withEffect">
                                      <p:stCondLst>
                                        <p:cond delay="1062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138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138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1" decel="50000" fill="hold" grpId="0" nodeType="withEffect">
                                      <p:stCondLst>
                                        <p:cond delay="846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9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9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1" decel="50000" fill="hold" grpId="0" nodeType="withEffect">
                                      <p:stCondLst>
                                        <p:cond delay="631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102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102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1" decel="50000" fill="hold" grpId="0" nodeType="withEffect">
                                      <p:stCondLst>
                                        <p:cond delay="415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114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114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126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126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138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138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9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9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102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102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decel="50000" fill="hold" grpId="0" nodeType="withEffect">
                                      <p:stCondLst>
                                        <p:cond delay="738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114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114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decel="50000" fill="hold" grpId="0" nodeType="withEffect">
                                      <p:stCondLst>
                                        <p:cond delay="523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126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7" dur="126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8" presetID="2" presetClass="entr" presetSubtype="1" decel="50000" fill="hold" grpId="0" nodeType="withEffect">
                                      <p:stCondLst>
                                        <p:cond delay="308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138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138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1" decel="50000" fill="hold" grpId="0" nodeType="withEffect">
                                      <p:stCondLst>
                                        <p:cond delay="1492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2" presetClass="entr" presetSubtype="1" decel="50000" fill="hold" grpId="0" nodeType="withEffect">
                                      <p:stCondLst>
                                        <p:cond delay="1277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102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102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2" presetClass="entr" presetSubtype="1" decel="50000" fill="hold" grpId="0" nodeType="withEffect">
                                      <p:stCondLst>
                                        <p:cond delay="1062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114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114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4" presetID="2" presetClass="entr" presetSubtype="1" decel="50000" fill="hold" grpId="0" nodeType="withEffect">
                                      <p:stCondLst>
                                        <p:cond delay="846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126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7" dur="126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8" presetID="2" presetClass="entr" presetSubtype="1" decel="50000" fill="hold" grpId="0" nodeType="withEffect">
                                      <p:stCondLst>
                                        <p:cond delay="631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0" dur="138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138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2" presetID="2" presetClass="entr" presetSubtype="1" decel="50000" fill="hold" grpId="0" nodeType="withEffect">
                                      <p:stCondLst>
                                        <p:cond delay="415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4" dur="9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5" dur="9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8" dur="102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102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114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114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4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6" dur="126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7" dur="126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8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0" dur="138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1" dur="138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2" presetID="31" presetClass="entr" presetSubtype="0" fill="hold" nodeType="withEffect" p14:presetBounceEnd="45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4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5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5000">
                                          <p:cBhvr>
                                            <p:cTn id="136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8" fill="hold">
                                <p:stCondLst>
                                  <p:cond delay="2765"/>
                                </p:stCondLst>
                                <p:childTnLst>
                                  <p:par>
                                    <p:cTn id="139" presetID="22" presetClass="entr" presetSubtype="8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1" dur="6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2" fill="hold">
                                <p:stCondLst>
                                  <p:cond delay="3365"/>
                                </p:stCondLst>
                                <p:childTnLst>
                                  <p:par>
                                    <p:cTn id="143" presetID="23" presetClass="entr" presetSubtype="16" fill="hold" grpId="0" nodeType="afterEffect" p14:presetBounceEnd="45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5" dur="3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6" dur="3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7" presetID="23" presetClass="entr" presetSubtype="16" fill="hold" grpId="0" nodeType="withEffect" p14:presetBounceEnd="45000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9" dur="3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0" dur="3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1" presetID="23" presetClass="entr" presetSubtype="16" fill="hold" grpId="0" nodeType="withEffect" p14:presetBounceEnd="45000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3" dur="3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4" dur="3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5" presetID="23" presetClass="entr" presetSubtype="16" fill="hold" grpId="0" nodeType="withEffect" p14:presetBounceEnd="45000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7" dur="3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8" dur="3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9" presetID="23" presetClass="entr" presetSubtype="16" fill="hold" grpId="0" nodeType="withEffect" p14:presetBounceEnd="45000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3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3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3" fill="hold">
                                <p:stCondLst>
                                  <p:cond delay="4195"/>
                                </p:stCondLst>
                                <p:childTnLst>
                                  <p:par>
                                    <p:cTn id="164" presetID="37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4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7" dur="45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8" dur="405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9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37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4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3" dur="45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4" dur="405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5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6" presetID="37" presetClass="entr" presetSubtype="0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45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9" dur="4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0" dur="405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1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2" fill="hold">
                                <p:stCondLst>
                                  <p:cond delay="4845"/>
                                </p:stCondLst>
                                <p:childTnLst>
                                  <p:par>
                                    <p:cTn id="183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5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/>
          <p:bldP spid="35" grpId="0"/>
          <p:bldP spid="36" grpId="0"/>
          <p:bldP spid="37" grpId="0" animBg="1"/>
          <p:bldP spid="38" grpId="0"/>
          <p:bldP spid="39" grpId="0" animBg="1"/>
          <p:bldP spid="40" grpId="0"/>
          <p:bldP spid="41" grpId="0" animBg="1"/>
          <p:bldP spid="45" grpId="0"/>
          <p:bldP spid="42" grpId="0" animBg="1"/>
          <p:bldP spid="43" grpId="0" animBg="1"/>
          <p:bldP spid="4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decel="50000" fill="hold" grpId="0" nodeType="after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3" presetClass="entr" presetSubtype="16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6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9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9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2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2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14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14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26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26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" decel="50000" fill="hold" grpId="0" nodeType="withEffect">
                                      <p:stCondLst>
                                        <p:cond delay="738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38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38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" decel="50000" fill="hold" grpId="0" nodeType="withEffect">
                                      <p:stCondLst>
                                        <p:cond delay="523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9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1" decel="50000" fill="hold" grpId="0" nodeType="withEffect">
                                      <p:stCondLst>
                                        <p:cond delay="308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2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2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1" decel="50000" fill="hold" grpId="0" nodeType="withEffect">
                                      <p:stCondLst>
                                        <p:cond delay="1492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14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14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1" decel="50000" fill="hold" grpId="0" nodeType="withEffect">
                                      <p:stCondLst>
                                        <p:cond delay="1277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26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26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1" decel="50000" fill="hold" grpId="0" nodeType="withEffect">
                                      <p:stCondLst>
                                        <p:cond delay="1062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138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138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1" decel="50000" fill="hold" grpId="0" nodeType="withEffect">
                                      <p:stCondLst>
                                        <p:cond delay="846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9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9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1" decel="50000" fill="hold" grpId="0" nodeType="withEffect">
                                      <p:stCondLst>
                                        <p:cond delay="631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102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102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1" decel="50000" fill="hold" grpId="0" nodeType="withEffect">
                                      <p:stCondLst>
                                        <p:cond delay="415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114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114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126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126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138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138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9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9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8" dur="102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9" dur="102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decel="50000" fill="hold" grpId="0" nodeType="withEffect">
                                      <p:stCondLst>
                                        <p:cond delay="738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2" dur="114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3" dur="114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decel="50000" fill="hold" grpId="0" nodeType="withEffect">
                                      <p:stCondLst>
                                        <p:cond delay="523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6" dur="126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7" dur="126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8" presetID="2" presetClass="entr" presetSubtype="1" decel="50000" fill="hold" grpId="0" nodeType="withEffect">
                                      <p:stCondLst>
                                        <p:cond delay="308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0" dur="138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1" dur="138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2" presetID="2" presetClass="entr" presetSubtype="1" decel="50000" fill="hold" grpId="0" nodeType="withEffect">
                                      <p:stCondLst>
                                        <p:cond delay="1492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4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5" dur="9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2" presetClass="entr" presetSubtype="1" decel="50000" fill="hold" grpId="0" nodeType="withEffect">
                                      <p:stCondLst>
                                        <p:cond delay="1277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8" dur="102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9" dur="102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0" presetID="2" presetClass="entr" presetSubtype="1" decel="50000" fill="hold" grpId="0" nodeType="withEffect">
                                      <p:stCondLst>
                                        <p:cond delay="1062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2" dur="114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3" dur="114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4" presetID="2" presetClass="entr" presetSubtype="1" decel="50000" fill="hold" grpId="0" nodeType="withEffect">
                                      <p:stCondLst>
                                        <p:cond delay="846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126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7" dur="126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8" presetID="2" presetClass="entr" presetSubtype="1" decel="50000" fill="hold" grpId="0" nodeType="withEffect">
                                      <p:stCondLst>
                                        <p:cond delay="631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0" dur="138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1" dur="138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2" presetID="2" presetClass="entr" presetSubtype="1" decel="50000" fill="hold" grpId="0" nodeType="withEffect">
                                      <p:stCondLst>
                                        <p:cond delay="415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4" dur="9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5" dur="9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6" presetID="2" presetClass="entr" presetSubtype="1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8" dur="102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9" dur="102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0" presetID="2" presetClass="entr" presetSubtype="1" decel="50000" fill="hold" grpId="0" nodeType="withEffect">
                                      <p:stCondLst>
                                        <p:cond delay="1385"/>
                                      </p:stCondLst>
                                      <p:childTnLst>
                                        <p:set>
                                          <p:cBhvr>
                                            <p:cTn id="1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2" dur="114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3" dur="114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4" presetID="2" presetClass="entr" presetSubtype="1" decel="50000" fill="hold" grpId="0" nodeType="withEffect">
                                      <p:stCondLst>
                                        <p:cond delay="1169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6" dur="126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7" dur="126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8" presetID="2" presetClass="entr" presetSubtype="1" decel="50000" fill="hold" grpId="0" nodeType="withEffect">
                                      <p:stCondLst>
                                        <p:cond delay="954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0" dur="138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1" dur="138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2" presetID="31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4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5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6" dur="7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7" dur="7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8" fill="hold">
                                <p:stCondLst>
                                  <p:cond delay="2765"/>
                                </p:stCondLst>
                                <p:childTnLst>
                                  <p:par>
                                    <p:cTn id="139" presetID="22" presetClass="entr" presetSubtype="8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1" dur="6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2" fill="hold">
                                <p:stCondLst>
                                  <p:cond delay="3365"/>
                                </p:stCondLst>
                                <p:childTnLst>
                                  <p:par>
                                    <p:cTn id="143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5" dur="3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6" dur="35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7" presetID="23" presetClass="entr" presetSubtype="16" fill="hold" grpId="0" nodeType="withEffect">
                                      <p:stCondLst>
                                        <p:cond delay="120"/>
                                      </p:stCondLst>
                                      <p:childTnLst>
                                        <p:set>
                                          <p:cBhvr>
                                            <p:cTn id="1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9" dur="3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0" dur="3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1" presetID="23" presetClass="entr" presetSubtype="16" fill="hold" grpId="0" nodeType="withEffect">
                                      <p:stCondLst>
                                        <p:cond delay="24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3" dur="3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4" dur="35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5" presetID="23" presetClass="entr" presetSubtype="16" fill="hold" grpId="0" nodeType="withEffect">
                                      <p:stCondLst>
                                        <p:cond delay="36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7" dur="3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8" dur="35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9" presetID="23" presetClass="entr" presetSubtype="16" fill="hold" grpId="0" nodeType="withEffect">
                                      <p:stCondLst>
                                        <p:cond delay="480"/>
                                      </p:stCondLst>
                                      <p:childTnLs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61" dur="3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2" dur="3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3" fill="hold">
                                <p:stCondLst>
                                  <p:cond delay="4195"/>
                                </p:stCondLst>
                                <p:childTnLst>
                                  <p:par>
                                    <p:cTn id="164" presetID="37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45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67" dur="45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8" dur="405" decel="100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9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0" presetID="37" presetClass="entr" presetSubtype="0" decel="5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4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3" dur="45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4" dur="405" decel="100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75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6" presetID="37" presetClass="entr" presetSubtype="0" decel="5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45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79" dur="4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0" dur="405" decel="100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1" dur="45" accel="100000" fill="hold">
                                              <p:stCondLst>
                                                <p:cond delay="405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2" fill="hold">
                                <p:stCondLst>
                                  <p:cond delay="4845"/>
                                </p:stCondLst>
                                <p:childTnLst>
                                  <p:par>
                                    <p:cTn id="183" presetID="10" presetClass="entr" presetSubtype="0" decel="5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5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6" grpId="0" animBg="1"/>
          <p:bldP spid="7" grpId="0" animBg="1"/>
          <p:bldP spid="8" grpId="0" animBg="1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8" grpId="0" animBg="1"/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  <p:bldP spid="25" grpId="0" animBg="1"/>
          <p:bldP spid="26" grpId="0" animBg="1"/>
          <p:bldP spid="27" grpId="0" animBg="1"/>
          <p:bldP spid="28" grpId="0" animBg="1"/>
          <p:bldP spid="29" grpId="0" animBg="1"/>
          <p:bldP spid="30" grpId="0" animBg="1"/>
          <p:bldP spid="31" grpId="0" animBg="1"/>
          <p:bldP spid="32" grpId="0" animBg="1"/>
          <p:bldP spid="33" grpId="0" animBg="1"/>
          <p:bldP spid="34" grpId="0"/>
          <p:bldP spid="35" grpId="0"/>
          <p:bldP spid="36" grpId="0"/>
          <p:bldP spid="37" grpId="0" animBg="1"/>
          <p:bldP spid="38" grpId="0"/>
          <p:bldP spid="39" grpId="0" animBg="1"/>
          <p:bldP spid="40" grpId="0"/>
          <p:bldP spid="41" grpId="0" animBg="1"/>
          <p:bldP spid="45" grpId="0"/>
          <p:bldP spid="42" grpId="0" animBg="1"/>
          <p:bldP spid="43" grpId="0" animBg="1"/>
          <p:bldP spid="44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1122</Words>
  <Application>Microsoft Office PowerPoint</Application>
  <PresentationFormat>Широкоэкранный</PresentationFormat>
  <Paragraphs>272</Paragraphs>
  <Slides>33</Slides>
  <Notes>0</Notes>
  <HiddenSlides>20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1" baseType="lpstr">
      <vt:lpstr>Caveat</vt:lpstr>
      <vt:lpstr>Arial</vt:lpstr>
      <vt:lpstr>Nunito</vt:lpstr>
      <vt:lpstr>Segoe UI Symbol</vt:lpstr>
      <vt:lpstr>Calibri</vt:lpstr>
      <vt:lpstr>Nunito ExtraBold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Граматична основа</dc:title>
  <dc:subject>Українська мова, 8 клас</dc:subject>
  <dc:creator>Illia</dc:creator>
  <cp:keywords/>
  <dc:description>generated using python-pptx</dc:description>
  <cp:lastModifiedBy>illia8551 climb</cp:lastModifiedBy>
  <cp:revision>3</cp:revision>
  <dcterms:created xsi:type="dcterms:W3CDTF">2013-01-27T09:14:16Z</dcterms:created>
  <dcterms:modified xsi:type="dcterms:W3CDTF">2026-10-20T15:53:13Z</dcterms:modified>
  <cp:category/>
</cp:coreProperties>
</file>